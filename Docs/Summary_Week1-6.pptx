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테스트</c:v>
                </c:pt>
              </c:strCache>
            </c:strRef>
          </c:tx>
          <c:spPr>
            <a:solidFill>
              <a:srgbClr val="6FD0F7"/>
            </a:solidFill>
          </c:spPr>
          <c:cat>
            <c:strRef>
              <c:f>Sheet1!$A$2:$A$7</c:f>
              <c:strCache>
                <c:ptCount val="6"/>
                <c:pt idx="0">
                  <c:v>2주차</c:v>
                </c:pt>
                <c:pt idx="1">
                  <c:v>3주차</c:v>
                </c:pt>
                <c:pt idx="2">
                  <c:v>4주차</c:v>
                </c:pt>
                <c:pt idx="3">
                  <c:v>5주차</c:v>
                </c:pt>
                <c:pt idx="4">
                  <c:v>즉시 수정</c:v>
                </c:pt>
                <c:pt idx="5">
                  <c:v>6주차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99</c:v>
                </c:pt>
                <c:pt idx="1">
                  <c:v>120</c:v>
                </c:pt>
                <c:pt idx="2">
                  <c:v>137</c:v>
                </c:pt>
                <c:pt idx="3">
                  <c:v>153</c:v>
                </c:pt>
                <c:pt idx="4">
                  <c:v>165</c:v>
                </c:pt>
                <c:pt idx="5">
                  <c:v>197</c:v>
                </c:pt>
              </c:numCache>
            </c:numRef>
          </c:val>
        </c:ser>
        <c:dLbls>
          <c:numFmt formatCode="General" sourceLinked="0"/>
          <c:txPr>
            <a:bodyPr/>
            <a:lstStyle/>
            <a:p>
              <a:pPr>
                <a:defRPr sz="1050" b="1">
                  <a:solidFill>
                    <a:srgbClr val="EEF1FA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1F2852"/>
            </a:solidFill>
          </a:ln>
        </c:spPr>
        <c:txPr>
          <a:bodyPr/>
          <a:lstStyle/>
          <a:p>
            <a:pPr>
              <a:defRPr sz="950">
                <a:solidFill>
                  <a:srgbClr val="C9D3F0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240.0"/>
        </c:scaling>
        <c:delete val="0"/>
        <c:axPos val="l"/>
        <c:majorGridlines>
          <c:spPr>
            <a:ln>
              <a:solidFill>
                <a:srgbClr val="1F2852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00">
                <a:solidFill>
                  <a:srgbClr val="9AA3C7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9AA3C7"/>
          </a:solidFill>
          <a:latin typeface="Malgun Gothic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result_fu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1417320"/>
            <a:ext cx="5577840" cy="3137535"/>
          </a:xfrm>
          <a:prstGeom prst="rect">
            <a:avLst/>
          </a:prstGeom>
          <a:ln w="15875">
            <a:solidFill>
              <a:srgbClr val="1F2852"/>
            </a:solidFill>
          </a:ln>
        </p:spPr>
      </p:pic>
      <p:sp>
        <p:nvSpPr>
          <p:cNvPr id="4" name="TextBox 3"/>
          <p:cNvSpPr txBox="1"/>
          <p:nvPr/>
        </p:nvSpPr>
        <p:spPr>
          <a:xfrm>
            <a:off x="6035040" y="4617720"/>
            <a:ext cx="55778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50" b="0" i="0" lang="ko-KR">
                <a:solidFill>
                  <a:srgbClr val="9AA3C7"/>
                </a:solidFill>
                <a:latin typeface="Malgun Gothic"/>
                <a:ea typeface="Malgun Gothic"/>
              </a:rPr>
              <a:t>4주차 결과 화면. 셰이더 천체 129개가 청색 거성을 공전한다 (2026-09-19 캡처)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37360"/>
            <a:ext cx="512064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1" i="0" lang="ko-KR">
                <a:solidFill>
                  <a:srgbClr val="F6B94B"/>
                </a:solidFill>
                <a:latin typeface="Malgun Gothic"/>
                <a:ea typeface="Malgun Gothic"/>
              </a:rPr>
              <a:t>개발 요약 · 1~6주차 작업 묶음 · 2026-09-17 ~ 09-29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03120"/>
            <a:ext cx="5120640" cy="1645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4600" b="1" i="0" lang="ko-KR">
                <a:solidFill>
                  <a:srgbClr val="EEF1FA"/>
                </a:solidFill>
                <a:latin typeface="Malgun Gothic"/>
                <a:ea typeface="Malgun Gothic"/>
              </a:rPr>
              <a:t>1~6주차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000" b="1" i="0" lang="ko-KR">
                <a:solidFill>
                  <a:srgbClr val="6FD0F7"/>
                </a:solidFill>
                <a:latin typeface="Malgun Gothic"/>
                <a:ea typeface="Malgun Gothic"/>
              </a:rPr>
              <a:t>프로토타입에서 완주까지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977639"/>
            <a:ext cx="5029200" cy="1371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50" b="0" i="0" lang="ko-KR">
                <a:solidFill>
                  <a:srgbClr val="C9D3F0"/>
                </a:solidFill>
                <a:latin typeface="Malgun Gothic"/>
                <a:ea typeface="Malgun Gothic"/>
              </a:rPr>
              <a:t>홀드로 먼지를 모아 행성을 만드는 손맛 프로토타입에서 시작해, 경제와 스킬트리, 셰이더 행성, 초신성 엔딩, 먼지 종류와 파편, 가격 곡선까지. 6주차 말에는 봇이 새 게임에서 엔딩까지 47런, 85분에 완주한다.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486400"/>
            <a:ext cx="512064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50" b="0" i="0" lang="ko-KR">
                <a:solidFill>
                  <a:srgbClr val="9AA3C7"/>
                </a:solidFill>
                <a:latin typeface="Malgun Gothic"/>
                <a:ea typeface="Malgun Gothic"/>
              </a:rPr>
              <a:t>"주차"는 달력이 아니라 작업 묶음이다. 여섯 묶음이 실제로는 2주 안에 끝났다.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1" i="0" lang="ko-KR">
                <a:solidFill>
                  <a:srgbClr val="F6B94B"/>
                </a:solidFill>
                <a:latin typeface="Malgun Gothic"/>
                <a:ea typeface="Malgun Gothic"/>
              </a:rPr>
              <a:t>흐름 · 각 묶음은 브랜치 하나, 보고서 하나, 개발자 확인 뒤 main 병합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21792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000" b="1" i="0" lang="ko-KR">
                <a:solidFill>
                  <a:srgbClr val="EEF1FA"/>
                </a:solidFill>
                <a:latin typeface="Malgun Gothic"/>
                <a:ea typeface="Malgun Gothic"/>
              </a:rPr>
              <a:t>여섯 묶음, 2주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731520" y="2834640"/>
            <a:ext cx="10789920" cy="0"/>
          </a:xfrm>
          <a:prstGeom prst="line">
            <a:avLst/>
          </a:prstGeom>
          <a:ln w="38100">
            <a:solidFill>
              <a:srgbClr val="1F2852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Oval 5"/>
          <p:cNvSpPr/>
          <p:nvPr/>
        </p:nvSpPr>
        <p:spPr>
          <a:xfrm>
            <a:off x="859536" y="2551176"/>
            <a:ext cx="566928" cy="566928"/>
          </a:xfrm>
          <a:prstGeom prst="ellipse">
            <a:avLst/>
          </a:prstGeom>
          <a:solidFill>
            <a:srgbClr val="F6B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59536" y="2551176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800" b="1" i="0" lang="ko-KR">
                <a:solidFill>
                  <a:srgbClr val="0B1026"/>
                </a:solidFill>
                <a:latin typeface="Malgun Gothic"/>
                <a:ea typeface="Malgun Gothic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79" y="1600200"/>
            <a:ext cx="19202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00" b="1" i="0" lang="ko-KR">
                <a:solidFill>
                  <a:srgbClr val="F6B94B"/>
                </a:solidFill>
                <a:latin typeface="Malgun Gothic"/>
                <a:ea typeface="Malgun Gothic"/>
              </a:rPr>
              <a:t>09-17 ~ 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79" y="1874519"/>
            <a:ext cx="192024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50" b="1" i="0" lang="ko-KR">
                <a:solidFill>
                  <a:srgbClr val="EEF1FA"/>
                </a:solidFill>
                <a:latin typeface="Malgun Gothic"/>
                <a:ea typeface="Malgun Gothic"/>
              </a:rPr>
              <a:t>손맛 프로토타입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79" y="3291840"/>
            <a:ext cx="1920240" cy="914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000" b="0" i="0" lang="ko-KR">
                <a:solidFill>
                  <a:srgbClr val="9AA3C7"/>
                </a:solidFill>
                <a:latin typeface="Malgun Gothic"/>
                <a:ea typeface="Malgun Gothic"/>
              </a:rPr>
              <a:t>런 루프 전체, 봇 10런 측정</a:t>
            </a:r>
          </a:p>
        </p:txBody>
      </p:sp>
      <p:sp>
        <p:nvSpPr>
          <p:cNvPr id="11" name="Oval 10"/>
          <p:cNvSpPr/>
          <p:nvPr/>
        </p:nvSpPr>
        <p:spPr>
          <a:xfrm>
            <a:off x="2843784" y="2551176"/>
            <a:ext cx="566928" cy="566928"/>
          </a:xfrm>
          <a:prstGeom prst="ellipse">
            <a:avLst/>
          </a:prstGeom>
          <a:solidFill>
            <a:srgbClr val="6FD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2843784" y="2551176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800" b="1" i="0" lang="ko-KR">
                <a:solidFill>
                  <a:srgbClr val="0B1026"/>
                </a:solidFill>
                <a:latin typeface="Malgun Gothic"/>
                <a:ea typeface="Malgun Gothic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67128" y="1600200"/>
            <a:ext cx="19202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00" b="1" i="0" lang="ko-KR">
                <a:solidFill>
                  <a:srgbClr val="6FD0F7"/>
                </a:solidFill>
                <a:latin typeface="Malgun Gothic"/>
                <a:ea typeface="Malgun Gothic"/>
              </a:rPr>
              <a:t>09-18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67128" y="1874519"/>
            <a:ext cx="192024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50" b="1" i="0" lang="ko-KR">
                <a:solidFill>
                  <a:srgbClr val="EEF1FA"/>
                </a:solidFill>
                <a:latin typeface="Malgun Gothic"/>
                <a:ea typeface="Malgun Gothic"/>
              </a:rPr>
              <a:t>경제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67128" y="3291840"/>
            <a:ext cx="1920240" cy="914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000" b="0" i="0" lang="ko-KR">
                <a:solidFill>
                  <a:srgbClr val="9AA3C7"/>
                </a:solidFill>
                <a:latin typeface="Malgun Gothic"/>
                <a:ea typeface="Malgun Gothic"/>
              </a:rPr>
              <a:t>티어 11개, 업그레이드 10종, 저장, 테스트 99개</a:t>
            </a:r>
          </a:p>
        </p:txBody>
      </p:sp>
      <p:sp>
        <p:nvSpPr>
          <p:cNvPr id="16" name="Oval 15"/>
          <p:cNvSpPr/>
          <p:nvPr/>
        </p:nvSpPr>
        <p:spPr>
          <a:xfrm>
            <a:off x="4828032" y="2551176"/>
            <a:ext cx="566928" cy="566928"/>
          </a:xfrm>
          <a:prstGeom prst="ellipse">
            <a:avLst/>
          </a:prstGeom>
          <a:solidFill>
            <a:srgbClr val="9DB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4828032" y="2551176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800" b="1" i="0" lang="ko-KR">
                <a:solidFill>
                  <a:srgbClr val="0B1026"/>
                </a:solidFill>
                <a:latin typeface="Malgun Gothic"/>
                <a:ea typeface="Malgun Gothic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51376" y="1600200"/>
            <a:ext cx="19202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00" b="1" i="0" lang="ko-KR">
                <a:solidFill>
                  <a:srgbClr val="9DBDFF"/>
                </a:solidFill>
                <a:latin typeface="Malgun Gothic"/>
                <a:ea typeface="Malgun Gothic"/>
              </a:rPr>
              <a:t>09-18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51376" y="1874519"/>
            <a:ext cx="192024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50" b="1" i="0" lang="ko-KR">
                <a:solidFill>
                  <a:srgbClr val="EEF1FA"/>
                </a:solidFill>
                <a:latin typeface="Malgun Gothic"/>
                <a:ea typeface="Malgun Gothic"/>
              </a:rPr>
              <a:t>스킬트리 · 태양계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51376" y="3291840"/>
            <a:ext cx="1920240" cy="914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000" b="0" i="0" lang="ko-KR">
                <a:solidFill>
                  <a:srgbClr val="9AA3C7"/>
                </a:solidFill>
                <a:latin typeface="Malgun Gothic"/>
                <a:ea typeface="Malgun Gothic"/>
              </a:rPr>
              <a:t>노드 트리 67개, 결과 화면 태양계</a:t>
            </a:r>
          </a:p>
        </p:txBody>
      </p:sp>
      <p:sp>
        <p:nvSpPr>
          <p:cNvPr id="21" name="Oval 20"/>
          <p:cNvSpPr/>
          <p:nvPr/>
        </p:nvSpPr>
        <p:spPr>
          <a:xfrm>
            <a:off x="6812280" y="2551176"/>
            <a:ext cx="566928" cy="566928"/>
          </a:xfrm>
          <a:prstGeom prst="ellipse">
            <a:avLst/>
          </a:prstGeom>
          <a:solidFill>
            <a:srgbClr val="4FA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812280" y="2551176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800" b="1" i="0" lang="ko-KR">
                <a:solidFill>
                  <a:srgbClr val="0B1026"/>
                </a:solidFill>
                <a:latin typeface="Malgun Gothic"/>
                <a:ea typeface="Malgun Gothic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35624" y="1600200"/>
            <a:ext cx="19202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00" b="1" i="0" lang="ko-KR">
                <a:solidFill>
                  <a:srgbClr val="4FA3E0"/>
                </a:solidFill>
                <a:latin typeface="Malgun Gothic"/>
                <a:ea typeface="Malgun Gothic"/>
              </a:rPr>
              <a:t>09-18 ~ 19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35624" y="1874519"/>
            <a:ext cx="192024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50" b="1" i="0" lang="ko-KR">
                <a:solidFill>
                  <a:srgbClr val="EEF1FA"/>
                </a:solidFill>
                <a:latin typeface="Malgun Gothic"/>
                <a:ea typeface="Malgun Gothic"/>
              </a:rPr>
              <a:t>행성 비주얼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35624" y="3291840"/>
            <a:ext cx="1920240" cy="914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000" b="0" i="0" lang="ko-KR">
                <a:solidFill>
                  <a:srgbClr val="9AA3C7"/>
                </a:solidFill>
                <a:latin typeface="Malgun Gothic"/>
                <a:ea typeface="Malgun Gothic"/>
              </a:rPr>
              <a:t>셰이더 표면 4종, 점화, 연출 강도</a:t>
            </a:r>
          </a:p>
        </p:txBody>
      </p:sp>
      <p:sp>
        <p:nvSpPr>
          <p:cNvPr id="26" name="Oval 25"/>
          <p:cNvSpPr/>
          <p:nvPr/>
        </p:nvSpPr>
        <p:spPr>
          <a:xfrm>
            <a:off x="8796528" y="2551176"/>
            <a:ext cx="566928" cy="566928"/>
          </a:xfrm>
          <a:prstGeom prst="ellipse">
            <a:avLst/>
          </a:prstGeom>
          <a:solidFill>
            <a:srgbClr val="F07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8796528" y="2551176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800" b="1" i="0" lang="ko-KR">
                <a:solidFill>
                  <a:srgbClr val="0B1026"/>
                </a:solidFill>
                <a:latin typeface="Malgun Gothic"/>
                <a:ea typeface="Malgun Gothic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19871" y="1600200"/>
            <a:ext cx="19202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00" b="1" i="0" lang="ko-KR">
                <a:solidFill>
                  <a:srgbClr val="F0705A"/>
                </a:solidFill>
                <a:latin typeface="Malgun Gothic"/>
                <a:ea typeface="Malgun Gothic"/>
              </a:rPr>
              <a:t>09-19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19871" y="1874519"/>
            <a:ext cx="192024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50" b="1" i="0" lang="ko-KR">
                <a:solidFill>
                  <a:srgbClr val="EEF1FA"/>
                </a:solidFill>
                <a:latin typeface="Malgun Gothic"/>
                <a:ea typeface="Malgun Gothic"/>
              </a:rPr>
              <a:t>초신성 엔딩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19871" y="3291840"/>
            <a:ext cx="1920240" cy="914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000" b="0" i="0" lang="ko-KR">
                <a:solidFill>
                  <a:srgbClr val="9AA3C7"/>
                </a:solidFill>
                <a:latin typeface="Malgun Gothic"/>
                <a:ea typeface="Malgun Gothic"/>
              </a:rPr>
              <a:t>엔딩 시퀀스, 엔들리스, 봇 완주 31런</a:t>
            </a:r>
          </a:p>
        </p:txBody>
      </p:sp>
      <p:sp>
        <p:nvSpPr>
          <p:cNvPr id="31" name="Oval 30"/>
          <p:cNvSpPr/>
          <p:nvPr/>
        </p:nvSpPr>
        <p:spPr>
          <a:xfrm>
            <a:off x="10780776" y="2551176"/>
            <a:ext cx="566928" cy="566928"/>
          </a:xfrm>
          <a:prstGeom prst="ellipse">
            <a:avLst/>
          </a:prstGeom>
          <a:solidFill>
            <a:srgbClr val="7DD3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10780776" y="2551176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800" b="1" i="0" lang="ko-KR">
                <a:solidFill>
                  <a:srgbClr val="0B1026"/>
                </a:solidFill>
                <a:latin typeface="Malgun Gothic"/>
                <a:ea typeface="Malgun Gothic"/>
              </a:rPr>
              <a:t>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104119" y="1600200"/>
            <a:ext cx="19202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00" b="1" i="0" lang="ko-KR">
                <a:solidFill>
                  <a:srgbClr val="7DD3A0"/>
                </a:solidFill>
                <a:latin typeface="Malgun Gothic"/>
                <a:ea typeface="Malgun Gothic"/>
              </a:rPr>
              <a:t>09-29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104119" y="1874519"/>
            <a:ext cx="192024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50" b="1" i="0" lang="ko-KR">
                <a:solidFill>
                  <a:srgbClr val="EEF1FA"/>
                </a:solidFill>
                <a:latin typeface="Malgun Gothic"/>
                <a:ea typeface="Malgun Gothic"/>
              </a:rPr>
              <a:t>손맛 · 다양성 · 밸런스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104119" y="3291840"/>
            <a:ext cx="1920240" cy="914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000" b="0" i="0" lang="ko-KR">
                <a:solidFill>
                  <a:srgbClr val="9AA3C7"/>
                </a:solidFill>
                <a:latin typeface="Malgun Gothic"/>
                <a:ea typeface="Malgun Gothic"/>
              </a:rPr>
              <a:t>흡인 보정, 먼지 종류, 파편, 가격 곡선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" y="425196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50" b="0" i="0" lang="ko-KR">
                <a:solidFill>
                  <a:srgbClr val="C9D3F0"/>
                </a:solidFill>
                <a:latin typeface="Malgun Gothic"/>
                <a:ea typeface="Malgun Gothic"/>
              </a:rPr>
              <a:t>09-22 1차 점검 (개발자 플레이 12런) → 즉시 수정 1차 → 6주차 스펙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40080" y="4754880"/>
            <a:ext cx="2039112" cy="1463040"/>
          </a:xfrm>
          <a:prstGeom prst="roundRect">
            <a:avLst>
              <a:gd name="adj" fmla="val 6000"/>
            </a:avLst>
          </a:prstGeom>
          <a:solidFill>
            <a:srgbClr val="161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822959" y="4846320"/>
            <a:ext cx="1719072" cy="5943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400" b="1" i="0" lang="ko-KR">
                <a:solidFill>
                  <a:srgbClr val="F6B94B"/>
                </a:solidFill>
                <a:latin typeface="Malgun Gothic"/>
                <a:ea typeface="Malgun Gothic"/>
              </a:rPr>
              <a:t>13일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2959" y="5468112"/>
            <a:ext cx="1719072" cy="685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00" b="0" i="0" lang="ko-KR">
                <a:solidFill>
                  <a:srgbClr val="9AA3C7"/>
                </a:solidFill>
                <a:latin typeface="Malgun Gothic"/>
                <a:ea typeface="Malgun Gothic"/>
              </a:rPr>
              <a:t>09-16 착수, 09-29 6주차 완료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2816352" y="4754880"/>
            <a:ext cx="2039112" cy="1463040"/>
          </a:xfrm>
          <a:prstGeom prst="roundRect">
            <a:avLst>
              <a:gd name="adj" fmla="val 6000"/>
            </a:avLst>
          </a:prstGeom>
          <a:solidFill>
            <a:srgbClr val="161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2999232" y="4846320"/>
            <a:ext cx="1719072" cy="5943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400" b="1" i="0" lang="ko-KR">
                <a:solidFill>
                  <a:srgbClr val="F6B94B"/>
                </a:solidFill>
                <a:latin typeface="Malgun Gothic"/>
                <a:ea typeface="Malgun Gothic"/>
              </a:rPr>
              <a:t>47런 · 85분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999232" y="5468112"/>
            <a:ext cx="1719072" cy="685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00" b="0" i="0" lang="ko-KR">
                <a:solidFill>
                  <a:srgbClr val="9AA3C7"/>
                </a:solidFill>
                <a:latin typeface="Malgun Gothic"/>
                <a:ea typeface="Malgun Gothic"/>
              </a:rPr>
              <a:t>6주차 봇 완주. 사람 기준 약 1.6시간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992624" y="4754880"/>
            <a:ext cx="2039112" cy="1463040"/>
          </a:xfrm>
          <a:prstGeom prst="roundRect">
            <a:avLst>
              <a:gd name="adj" fmla="val 6000"/>
            </a:avLst>
          </a:prstGeom>
          <a:solidFill>
            <a:srgbClr val="161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5175504" y="4846320"/>
            <a:ext cx="1719072" cy="5943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400" b="1" i="0" lang="ko-KR">
                <a:solidFill>
                  <a:srgbClr val="F6B94B"/>
                </a:solidFill>
                <a:latin typeface="Malgun Gothic"/>
                <a:ea typeface="Malgun Gothic"/>
              </a:rPr>
              <a:t>197개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175504" y="5468112"/>
            <a:ext cx="1719072" cy="685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00" b="0" i="0" lang="ko-KR">
                <a:solidFill>
                  <a:srgbClr val="9AA3C7"/>
                </a:solidFill>
                <a:latin typeface="Malgun Gothic"/>
                <a:ea typeface="Malgun Gothic"/>
              </a:rPr>
              <a:t>EditMode 테스트 (2주차 99개)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168896" y="4754880"/>
            <a:ext cx="2039112" cy="1463040"/>
          </a:xfrm>
          <a:prstGeom prst="roundRect">
            <a:avLst>
              <a:gd name="adj" fmla="val 6000"/>
            </a:avLst>
          </a:prstGeom>
          <a:solidFill>
            <a:srgbClr val="161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TextBox 46"/>
          <p:cNvSpPr txBox="1"/>
          <p:nvPr/>
        </p:nvSpPr>
        <p:spPr>
          <a:xfrm>
            <a:off x="7351775" y="4846320"/>
            <a:ext cx="1719072" cy="5943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400" b="1" i="0" lang="ko-KR">
                <a:solidFill>
                  <a:srgbClr val="F6B94B"/>
                </a:solidFill>
                <a:latin typeface="Malgun Gothic"/>
                <a:ea typeface="Malgun Gothic"/>
              </a:rPr>
              <a:t>110배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351775" y="5468112"/>
            <a:ext cx="1719072" cy="685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00" b="0" i="0" lang="ko-KR">
                <a:solidFill>
                  <a:srgbClr val="9AA3C7"/>
                </a:solidFill>
                <a:latin typeface="Malgun Gothic"/>
                <a:ea typeface="Malgun Gothic"/>
              </a:rPr>
              <a:t>티어 11 / 티어 1 질량당 가치 (10만 배에서)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9345167" y="4754880"/>
            <a:ext cx="2039112" cy="1463040"/>
          </a:xfrm>
          <a:prstGeom prst="roundRect">
            <a:avLst>
              <a:gd name="adj" fmla="val 6000"/>
            </a:avLst>
          </a:prstGeom>
          <a:solidFill>
            <a:srgbClr val="161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" name="TextBox 49"/>
          <p:cNvSpPr txBox="1"/>
          <p:nvPr/>
        </p:nvSpPr>
        <p:spPr>
          <a:xfrm>
            <a:off x="9528047" y="4846320"/>
            <a:ext cx="1719072" cy="5943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400" b="1" i="0" lang="ko-KR">
                <a:solidFill>
                  <a:srgbClr val="F6B94B"/>
                </a:solidFill>
                <a:latin typeface="Malgun Gothic"/>
                <a:ea typeface="Malgun Gothic"/>
              </a:rPr>
              <a:t>0.92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528047" y="5468112"/>
            <a:ext cx="1719072" cy="685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00" b="0" i="0" lang="ko-KR">
                <a:solidFill>
                  <a:srgbClr val="9AA3C7"/>
                </a:solidFill>
                <a:latin typeface="Malgun Gothic"/>
                <a:ea typeface="Malgun Gothic"/>
              </a:rPr>
              <a:t>사람의 홀드 비율. 봇과 거의 같다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40080" y="644652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00" b="0" i="0" lang="ko-KR">
                <a:solidFill>
                  <a:srgbClr val="9AA3C7"/>
                </a:solidFill>
                <a:latin typeface="Malgun Gothic"/>
                <a:ea typeface="Malgun Gothic"/>
              </a:rPr>
              <a:t>1~6주차 요약 · 구현 보고서(Docs/Reports)와 검토 문서 기준 · 작성 2026-10-08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607040" y="644652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900" b="0" i="0" lang="ko-KR">
                <a:solidFill>
                  <a:srgbClr val="9AA3C7"/>
                </a:solidFill>
                <a:latin typeface="Malgun Gothic"/>
                <a:ea typeface="Malgun Gothic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1" i="0" lang="ko-KR">
                <a:solidFill>
                  <a:srgbClr val="F6B94B"/>
                </a:solidFill>
                <a:latin typeface="Malgun Gothic"/>
                <a:ea typeface="Malgun Gothic"/>
              </a:rPr>
              <a:t>Reports/Prototype_Week1.md · 2026-09-17 ~ 18 · 체크포인트 A, B, 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21792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000" b="1" i="0" lang="ko-KR">
                <a:solidFill>
                  <a:srgbClr val="EEF1FA"/>
                </a:solidFill>
                <a:latin typeface="Malgun Gothic"/>
                <a:ea typeface="Malgun Gothic"/>
              </a:rPr>
              <a:t>1주차: 손맛 프로토타입</a:t>
            </a:r>
          </a:p>
        </p:txBody>
      </p:sp>
      <p:pic>
        <p:nvPicPr>
          <p:cNvPr id="5" name="Picture 4" descr="screenshot_20260917_23254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463040"/>
            <a:ext cx="6766560" cy="3806190"/>
          </a:xfrm>
          <a:prstGeom prst="rect">
            <a:avLst/>
          </a:prstGeom>
          <a:ln w="15875">
            <a:solidFill>
              <a:srgbClr val="1F2852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640080" y="5340096"/>
            <a:ext cx="676656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50" b="0" i="0" lang="ko-KR">
                <a:solidFill>
                  <a:srgbClr val="9AA3C7"/>
                </a:solidFill>
                <a:latin typeface="Malgun Gothic"/>
                <a:ea typeface="Malgun Gothic"/>
              </a:rPr>
              <a:t>런 1, 봇 홀드 중. 중력 반경 링과 질량 게이지, 스태미나 바. 먼지와 행성은 원 스프라이트 (09-17 캡처)</a:t>
            </a:r>
          </a:p>
        </p:txBody>
      </p:sp>
      <p:sp>
        <p:nvSpPr>
          <p:cNvPr id="7" name="Oval 6"/>
          <p:cNvSpPr/>
          <p:nvPr/>
        </p:nvSpPr>
        <p:spPr>
          <a:xfrm>
            <a:off x="7744967" y="1572768"/>
            <a:ext cx="91440" cy="91440"/>
          </a:xfrm>
          <a:prstGeom prst="ellipse">
            <a:avLst/>
          </a:prstGeom>
          <a:solidFill>
            <a:srgbClr val="F6B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001000" y="1508760"/>
            <a:ext cx="3566160" cy="7863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0" i="0" lang="ko-KR">
                <a:solidFill>
                  <a:srgbClr val="C9D3F0"/>
                </a:solidFill>
                <a:latin typeface="Malgun Gothic"/>
                <a:ea typeface="Malgun Gothic"/>
              </a:rPr>
              <a:t>런 루프 전체가 돈다: 먼지, 홀드 중력, 놓으면 행성, 스태미나 0에 런 종료, 결과와 상점</a:t>
            </a:r>
          </a:p>
        </p:txBody>
      </p:sp>
      <p:sp>
        <p:nvSpPr>
          <p:cNvPr id="9" name="Oval 8"/>
          <p:cNvSpPr/>
          <p:nvPr/>
        </p:nvSpPr>
        <p:spPr>
          <a:xfrm>
            <a:off x="7744967" y="2359152"/>
            <a:ext cx="91440" cy="91440"/>
          </a:xfrm>
          <a:prstGeom prst="ellipse">
            <a:avLst/>
          </a:prstGeom>
          <a:solidFill>
            <a:srgbClr val="F6B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001000" y="2295144"/>
            <a:ext cx="3566160" cy="7863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0" i="0" lang="ko-KR">
                <a:solidFill>
                  <a:srgbClr val="C9D3F0"/>
                </a:solidFill>
                <a:latin typeface="Malgun Gothic"/>
                <a:ea typeface="Malgun Gothic"/>
              </a:rPr>
              <a:t>F4 오토플레이 봇으로 10런 측정. 지난 런 대비 평균 ×1.16, 9번 중 8번 성장</a:t>
            </a:r>
          </a:p>
        </p:txBody>
      </p:sp>
      <p:sp>
        <p:nvSpPr>
          <p:cNvPr id="11" name="Oval 10"/>
          <p:cNvSpPr/>
          <p:nvPr/>
        </p:nvSpPr>
        <p:spPr>
          <a:xfrm>
            <a:off x="7744967" y="3145536"/>
            <a:ext cx="91440" cy="91440"/>
          </a:xfrm>
          <a:prstGeom prst="ellipse">
            <a:avLst/>
          </a:prstGeom>
          <a:solidFill>
            <a:srgbClr val="F6B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8001000" y="3081528"/>
            <a:ext cx="3566160" cy="7863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0" i="0" lang="ko-KR">
                <a:solidFill>
                  <a:srgbClr val="C9D3F0"/>
                </a:solidFill>
                <a:latin typeface="Malgun Gothic"/>
                <a:ea typeface="Malgun Gothic"/>
              </a:rPr>
              <a:t>먼지 1,000개에서 170fps(에디터), 틱 0.25ms. 수치는 전부 데이터 에셋, 코드 상수 없음</a:t>
            </a:r>
          </a:p>
        </p:txBody>
      </p:sp>
      <p:sp>
        <p:nvSpPr>
          <p:cNvPr id="13" name="Oval 12"/>
          <p:cNvSpPr/>
          <p:nvPr/>
        </p:nvSpPr>
        <p:spPr>
          <a:xfrm>
            <a:off x="7744967" y="3931920"/>
            <a:ext cx="91440" cy="91440"/>
          </a:xfrm>
          <a:prstGeom prst="ellipse">
            <a:avLst/>
          </a:prstGeom>
          <a:solidFill>
            <a:srgbClr val="F6B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001000" y="3867912"/>
            <a:ext cx="3566160" cy="7863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0" i="0" lang="ko-KR">
                <a:solidFill>
                  <a:srgbClr val="C9D3F0"/>
                </a:solidFill>
                <a:latin typeface="Malgun Gothic"/>
                <a:ea typeface="Malgun Gothic"/>
              </a:rPr>
              <a:t>드러난 것: 혜성 해금 50이 멀다, 정지 홀드 유입 0.8개/초, 사람은 런의 10~16%만 홀드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26679" y="4800600"/>
            <a:ext cx="3840480" cy="1325880"/>
          </a:xfrm>
          <a:prstGeom prst="roundRect">
            <a:avLst>
              <a:gd name="adj" fmla="val 6000"/>
            </a:avLst>
          </a:prstGeom>
          <a:solidFill>
            <a:srgbClr val="161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7955279" y="4910328"/>
            <a:ext cx="3383280" cy="5943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600" b="1" i="0" lang="ko-KR">
                <a:solidFill>
                  <a:srgbClr val="F6B94B"/>
                </a:solidFill>
                <a:latin typeface="Malgun Gothic"/>
                <a:ea typeface="Malgun Gothic"/>
              </a:rPr>
              <a:t>×1.16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55279" y="5532120"/>
            <a:ext cx="3383280" cy="50291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00" b="0" i="0" lang="ko-KR">
                <a:solidFill>
                  <a:srgbClr val="9AA3C7"/>
                </a:solidFill>
                <a:latin typeface="Malgun Gothic"/>
                <a:ea typeface="Malgun Gothic"/>
              </a:rPr>
              <a:t>봇 10런의 지난 런 대비 평균. 런 4만 ×0.88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44652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00" b="0" i="0" lang="ko-KR">
                <a:solidFill>
                  <a:srgbClr val="9AA3C7"/>
                </a:solidFill>
                <a:latin typeface="Malgun Gothic"/>
                <a:ea typeface="Malgun Gothic"/>
              </a:rPr>
              <a:t>1~6주차 요약 · 구현 보고서(Docs/Reports)와 검토 문서 기준 · 작성 2026-10-08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7040" y="644652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900" b="0" i="0" lang="ko-KR">
                <a:solidFill>
                  <a:srgbClr val="9AA3C7"/>
                </a:solidFill>
                <a:latin typeface="Malgun Gothic"/>
                <a:ea typeface="Malgun Gothic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1" i="0" lang="ko-KR">
                <a:solidFill>
                  <a:srgbClr val="F6B94B"/>
                </a:solidFill>
                <a:latin typeface="Malgun Gothic"/>
                <a:ea typeface="Malgun Gothic"/>
              </a:rPr>
              <a:t>Reports/Week2.md · 2026-09-18 · 커밋 1개 (57개 파일)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21792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000" b="1" i="0" lang="ko-KR">
                <a:solidFill>
                  <a:srgbClr val="EEF1FA"/>
                </a:solidFill>
                <a:latin typeface="Malgun Gothic"/>
                <a:ea typeface="Malgun Gothic"/>
              </a:rPr>
              <a:t>2주차: 경제</a:t>
            </a:r>
          </a:p>
        </p:txBody>
      </p:sp>
      <p:pic>
        <p:nvPicPr>
          <p:cNvPr id="5" name="Picture 4" descr="screenshot_20260918_18564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463040"/>
            <a:ext cx="6766560" cy="3806190"/>
          </a:xfrm>
          <a:prstGeom prst="rect">
            <a:avLst/>
          </a:prstGeom>
          <a:ln w="15875">
            <a:solidFill>
              <a:srgbClr val="1F2852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640080" y="5340096"/>
            <a:ext cx="676656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50" b="0" i="0" lang="ko-KR">
                <a:solidFill>
                  <a:srgbClr val="9AA3C7"/>
                </a:solidFill>
                <a:latin typeface="Malgun Gothic"/>
                <a:ea typeface="Malgun Gothic"/>
              </a:rPr>
              <a:t>치트 상태의 결과·상점 화면. 티어 1~11 전부 생성, 수입 5.21B가 문자 표기로, 업그레이드 10종과 "모두 해금" (09-18 캡처)</a:t>
            </a:r>
          </a:p>
        </p:txBody>
      </p:sp>
      <p:sp>
        <p:nvSpPr>
          <p:cNvPr id="7" name="Oval 6"/>
          <p:cNvSpPr/>
          <p:nvPr/>
        </p:nvSpPr>
        <p:spPr>
          <a:xfrm>
            <a:off x="7744967" y="1572768"/>
            <a:ext cx="91440" cy="91440"/>
          </a:xfrm>
          <a:prstGeom prst="ellipse">
            <a:avLst/>
          </a:prstGeom>
          <a:solidFill>
            <a:srgbClr val="6FD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001000" y="1508760"/>
            <a:ext cx="3566160" cy="7863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0" i="0" lang="ko-KR">
                <a:solidFill>
                  <a:srgbClr val="C9D3F0"/>
                </a:solidFill>
                <a:latin typeface="Malgun Gothic"/>
                <a:ea typeface="Malgun Gothic"/>
              </a:rPr>
              <a:t>천체 티어 11개와 업그레이드 10종을 데이터 에셋으로. Validate Data 메뉴가 연속성과 id, 문자열 키를 검사</a:t>
            </a:r>
          </a:p>
        </p:txBody>
      </p:sp>
      <p:sp>
        <p:nvSpPr>
          <p:cNvPr id="9" name="Oval 8"/>
          <p:cNvSpPr/>
          <p:nvPr/>
        </p:nvSpPr>
        <p:spPr>
          <a:xfrm>
            <a:off x="7744967" y="2359152"/>
            <a:ext cx="91440" cy="91440"/>
          </a:xfrm>
          <a:prstGeom prst="ellipse">
            <a:avLst/>
          </a:prstGeom>
          <a:solidFill>
            <a:srgbClr val="6FD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001000" y="2295144"/>
            <a:ext cx="3566160" cy="7863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0" i="0" lang="ko-KR">
                <a:solidFill>
                  <a:srgbClr val="C9D3F0"/>
                </a:solidFill>
                <a:latin typeface="Malgun Gothic"/>
                <a:ea typeface="Malgun Gothic"/>
              </a:rPr>
              <a:t>저장: tmp → bak → json 교체, 깨지면 bak 복구. 런 중 5초마다 저장, quit·crash 모두 수입 보존</a:t>
            </a:r>
          </a:p>
        </p:txBody>
      </p:sp>
      <p:sp>
        <p:nvSpPr>
          <p:cNvPr id="11" name="Oval 10"/>
          <p:cNvSpPr/>
          <p:nvPr/>
        </p:nvSpPr>
        <p:spPr>
          <a:xfrm>
            <a:off x="7744967" y="3145536"/>
            <a:ext cx="91440" cy="91440"/>
          </a:xfrm>
          <a:prstGeom prst="ellipse">
            <a:avLst/>
          </a:prstGeom>
          <a:solidFill>
            <a:srgbClr val="6FD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8001000" y="3081528"/>
            <a:ext cx="3566160" cy="7863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0" i="0" lang="ko-KR">
                <a:solidFill>
                  <a:srgbClr val="C9D3F0"/>
                </a:solidFill>
                <a:latin typeface="Malgun Gothic"/>
                <a:ea typeface="Malgun Gothic"/>
              </a:rPr>
              <a:t>숫자 표기 Fmt.Num(1.23K … 1e36), 런 통계와 run_log.csv, 결과·상점 2단 화면</a:t>
            </a:r>
          </a:p>
        </p:txBody>
      </p:sp>
      <p:sp>
        <p:nvSpPr>
          <p:cNvPr id="13" name="Oval 12"/>
          <p:cNvSpPr/>
          <p:nvPr/>
        </p:nvSpPr>
        <p:spPr>
          <a:xfrm>
            <a:off x="7744967" y="3931920"/>
            <a:ext cx="91440" cy="91440"/>
          </a:xfrm>
          <a:prstGeom prst="ellipse">
            <a:avLst/>
          </a:prstGeom>
          <a:solidFill>
            <a:srgbClr val="6FD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001000" y="3867912"/>
            <a:ext cx="3566160" cy="7863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0" i="0" lang="ko-KR">
                <a:solidFill>
                  <a:srgbClr val="C9D3F0"/>
                </a:solidFill>
                <a:latin typeface="Malgun Gothic"/>
                <a:ea typeface="Malgun Gothic"/>
              </a:rPr>
              <a:t>EditMode 테스트 99개. 보고서의 질문 9건은 같은 날 결정됐고 대부분 스킬트리 1단계에 반영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26679" y="4800600"/>
            <a:ext cx="3840480" cy="1325880"/>
          </a:xfrm>
          <a:prstGeom prst="roundRect">
            <a:avLst>
              <a:gd name="adj" fmla="val 6000"/>
            </a:avLst>
          </a:prstGeom>
          <a:solidFill>
            <a:srgbClr val="161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7955279" y="4910328"/>
            <a:ext cx="3383280" cy="5943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600" b="1" i="0" lang="ko-KR">
                <a:solidFill>
                  <a:srgbClr val="6FD0F7"/>
                </a:solidFill>
                <a:latin typeface="Malgun Gothic"/>
                <a:ea typeface="Malgun Gothic"/>
              </a:rPr>
              <a:t>99개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55279" y="5532120"/>
            <a:ext cx="3383280" cy="50291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00" b="0" i="0" lang="ko-KR">
                <a:solidFill>
                  <a:srgbClr val="9AA3C7"/>
                </a:solidFill>
                <a:latin typeface="Malgun Gothic"/>
                <a:ea typeface="Malgun Gothic"/>
              </a:rPr>
              <a:t>EditMode 테스트 전부 통과 (1.5초). 밸런스는 하지 않았다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44652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00" b="0" i="0" lang="ko-KR">
                <a:solidFill>
                  <a:srgbClr val="9AA3C7"/>
                </a:solidFill>
                <a:latin typeface="Malgun Gothic"/>
                <a:ea typeface="Malgun Gothic"/>
              </a:rPr>
              <a:t>1~6주차 요약 · 구현 보고서(Docs/Reports)와 검토 문서 기준 · 작성 2026-10-08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7040" y="644652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900" b="0" i="0" lang="ko-KR">
                <a:solidFill>
                  <a:srgbClr val="9AA3C7"/>
                </a:solidFill>
                <a:latin typeface="Malgun Gothic"/>
                <a:ea typeface="Malgun Gothic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1" i="0" lang="ko-KR">
                <a:solidFill>
                  <a:srgbClr val="F6B94B"/>
                </a:solidFill>
                <a:latin typeface="Malgun Gothic"/>
                <a:ea typeface="Malgun Gothic"/>
              </a:rPr>
              <a:t>Reports/SkillTree_Step1.md, Week3_Tree_SolarSystem.md · 2026-09-18 · 브랜치 skilltree-model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21792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000" b="1" i="0" lang="ko-KR">
                <a:solidFill>
                  <a:srgbClr val="EEF1FA"/>
                </a:solidFill>
                <a:latin typeface="Malgun Gothic"/>
                <a:ea typeface="Malgun Gothic"/>
              </a:rPr>
              <a:t>3주차: 스킬트리와 결과 태양계</a:t>
            </a:r>
          </a:p>
        </p:txBody>
      </p:sp>
      <p:pic>
        <p:nvPicPr>
          <p:cNvPr id="5" name="Picture 4" descr="screenshot_20260918_22185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463040"/>
            <a:ext cx="5349240" cy="3008948"/>
          </a:xfrm>
          <a:prstGeom prst="rect">
            <a:avLst/>
          </a:prstGeom>
          <a:ln w="15875">
            <a:solidFill>
              <a:srgbClr val="1F2852"/>
            </a:solidFill>
          </a:ln>
        </p:spPr>
      </p:pic>
      <p:pic>
        <p:nvPicPr>
          <p:cNvPr id="6" name="Picture 5" descr="screenshot_20260918_22281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463040"/>
            <a:ext cx="5349240" cy="3008948"/>
          </a:xfrm>
          <a:prstGeom prst="rect">
            <a:avLst/>
          </a:prstGeom>
          <a:ln w="15875">
            <a:solidFill>
              <a:srgbClr val="1F2852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640080" y="4526280"/>
            <a:ext cx="5349240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50" b="0" i="0" lang="ko-KR">
                <a:solidFill>
                  <a:srgbClr val="9AA3C7"/>
                </a:solidFill>
                <a:latin typeface="Malgun Gothic"/>
                <a:ea typeface="Malgun Gothic"/>
              </a:rPr>
              <a:t>별자리 트리 화면. 링 1~3, 보유 노드는 선이 빛난다. 클릭 구매, 누르고 있기 연속 구매, 드래그, 휠 (09-18 캡처)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4526280"/>
            <a:ext cx="5349240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50" b="0" i="0" lang="ko-KR">
                <a:solidFill>
                  <a:srgbClr val="9AA3C7"/>
                </a:solidFill>
                <a:latin typeface="Malgun Gothic"/>
                <a:ea typeface="Malgun Gothic"/>
              </a:rPr>
              <a:t>결과 화면 태양계. 이번 런의 행성이 중심 항성을 공전하고, 16개가 넘는 티어는 소행성대 ×N으로 (09-18 캡처)</a:t>
            </a:r>
          </a:p>
        </p:txBody>
      </p:sp>
      <p:sp>
        <p:nvSpPr>
          <p:cNvPr id="9" name="Oval 8"/>
          <p:cNvSpPr/>
          <p:nvPr/>
        </p:nvSpPr>
        <p:spPr>
          <a:xfrm>
            <a:off x="658368" y="5093208"/>
            <a:ext cx="91440" cy="91440"/>
          </a:xfrm>
          <a:prstGeom prst="ellipse">
            <a:avLst/>
          </a:prstGeom>
          <a:solidFill>
            <a:srgbClr val="9DB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914400" y="5029200"/>
            <a:ext cx="7132320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 i="0" lang="ko-KR">
                <a:solidFill>
                  <a:srgbClr val="C9D3F0"/>
                </a:solidFill>
                <a:latin typeface="Malgun Gothic"/>
                <a:ea typeface="Malgun Gothic"/>
              </a:rPr>
              <a:t>평면 상점을 방사형 노드 트리로 교체: 노드 67개(스탯 54, 엔들리스 3, 관문 10), 관문이 링 경계. 세이브 v2</a:t>
            </a:r>
          </a:p>
        </p:txBody>
      </p:sp>
      <p:sp>
        <p:nvSpPr>
          <p:cNvPr id="11" name="Oval 10"/>
          <p:cNvSpPr/>
          <p:nvPr/>
        </p:nvSpPr>
        <p:spPr>
          <a:xfrm>
            <a:off x="658368" y="5477256"/>
            <a:ext cx="91440" cy="91440"/>
          </a:xfrm>
          <a:prstGeom prst="ellipse">
            <a:avLst/>
          </a:prstGeom>
          <a:solidFill>
            <a:srgbClr val="9DB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14400" y="5413248"/>
            <a:ext cx="7132320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 i="0" lang="ko-KR">
                <a:solidFill>
                  <a:srgbClr val="C9D3F0"/>
                </a:solidFill>
                <a:latin typeface="Malgun Gothic"/>
                <a:ea typeface="Malgun Gothic"/>
              </a:rPr>
              <a:t>결과 화면이 태양계가 됐다. 런 중 만든 행성은 소실점으로 떠나고 결과 화면에서 궤도에 안착한다</a:t>
            </a:r>
          </a:p>
        </p:txBody>
      </p:sp>
      <p:sp>
        <p:nvSpPr>
          <p:cNvPr id="13" name="Oval 12"/>
          <p:cNvSpPr/>
          <p:nvPr/>
        </p:nvSpPr>
        <p:spPr>
          <a:xfrm>
            <a:off x="658368" y="5861304"/>
            <a:ext cx="91440" cy="91440"/>
          </a:xfrm>
          <a:prstGeom prst="ellipse">
            <a:avLst/>
          </a:prstGeom>
          <a:solidFill>
            <a:srgbClr val="9DB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14400" y="5797296"/>
            <a:ext cx="7132320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 i="0" lang="ko-KR">
                <a:solidFill>
                  <a:srgbClr val="C9D3F0"/>
                </a:solidFill>
                <a:latin typeface="Malgun Gothic"/>
                <a:ea typeface="Malgun Gothic"/>
              </a:rPr>
              <a:t>봇 20런으로 ringCostMult만 조정해 링 1·2 각 5런 통과. 실측 수입은 초안의 약 0.8배. 테스트 120개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21040" y="4983480"/>
            <a:ext cx="3246120" cy="1325880"/>
          </a:xfrm>
          <a:prstGeom prst="roundRect">
            <a:avLst>
              <a:gd name="adj" fmla="val 6000"/>
            </a:avLst>
          </a:prstGeom>
          <a:solidFill>
            <a:srgbClr val="161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8549640" y="5093208"/>
            <a:ext cx="2788920" cy="5943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600" b="1" i="0" lang="ko-KR">
                <a:solidFill>
                  <a:srgbClr val="9DBDFF"/>
                </a:solidFill>
                <a:latin typeface="Malgun Gothic"/>
                <a:ea typeface="Malgun Gothic"/>
              </a:rPr>
              <a:t>67 노드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49640" y="5715000"/>
            <a:ext cx="2788920" cy="50291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00" b="0" i="0" lang="ko-KR">
                <a:solidFill>
                  <a:srgbClr val="9AA3C7"/>
                </a:solidFill>
                <a:latin typeface="Malgun Gothic"/>
                <a:ea typeface="Malgun Gothic"/>
              </a:rPr>
              <a:t>스탯 54 + 엔들리스 3 + 관문 10. 7개 축에 극좌표 배치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44652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00" b="0" i="0" lang="ko-KR">
                <a:solidFill>
                  <a:srgbClr val="9AA3C7"/>
                </a:solidFill>
                <a:latin typeface="Malgun Gothic"/>
                <a:ea typeface="Malgun Gothic"/>
              </a:rPr>
              <a:t>1~6주차 요약 · 구현 보고서(Docs/Reports)와 검토 문서 기준 · 작성 2026-10-08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7040" y="644652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900" b="0" i="0" lang="ko-KR">
                <a:solidFill>
                  <a:srgbClr val="9AA3C7"/>
                </a:solidFill>
                <a:latin typeface="Malgun Gothic"/>
                <a:ea typeface="Malgun Gothic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1" i="0" lang="ko-KR">
                <a:solidFill>
                  <a:srgbClr val="F6B94B"/>
                </a:solidFill>
                <a:latin typeface="Malgun Gothic"/>
                <a:ea typeface="Malgun Gothic"/>
              </a:rPr>
              <a:t>Reports/Week4_Visuals.md · 2026-09-18 ~ 19 · 브랜치 planet-visuals · 커밋 A~E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21792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000" b="1" i="0" lang="ko-KR">
                <a:solidFill>
                  <a:srgbClr val="EEF1FA"/>
                </a:solidFill>
                <a:latin typeface="Malgun Gothic"/>
                <a:ea typeface="Malgun Gothic"/>
              </a:rPr>
              <a:t>4주차: 행성 비주얼</a:t>
            </a:r>
          </a:p>
        </p:txBody>
      </p:sp>
      <p:pic>
        <p:nvPicPr>
          <p:cNvPr id="5" name="Picture 4" descr="galle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463040"/>
            <a:ext cx="5349240" cy="3008948"/>
          </a:xfrm>
          <a:prstGeom prst="rect">
            <a:avLst/>
          </a:prstGeom>
          <a:ln w="15875">
            <a:solidFill>
              <a:srgbClr val="1F2852"/>
            </a:solidFill>
          </a:ln>
        </p:spPr>
      </p:pic>
      <p:pic>
        <p:nvPicPr>
          <p:cNvPr id="6" name="Picture 5" descr="ru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463040"/>
            <a:ext cx="5349240" cy="3008948"/>
          </a:xfrm>
          <a:prstGeom prst="rect">
            <a:avLst/>
          </a:prstGeom>
          <a:ln w="15875">
            <a:solidFill>
              <a:srgbClr val="1F2852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640080" y="4526280"/>
            <a:ext cx="5349240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50" b="0" i="0" lang="ko-KR">
                <a:solidFill>
                  <a:srgbClr val="9AA3C7"/>
                </a:solidFill>
                <a:latin typeface="Malgun Gothic"/>
                <a:ea typeface="Malgun Gothic"/>
              </a:rPr>
              <a:t>F8 갤러리. 셰이더 하나로 티어 11개: 혜성 꼬리, 크레이터, 바다와 구름, 띠와 고리, 항성 코로나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4526280"/>
            <a:ext cx="5349240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50" b="0" i="0" lang="ko-KR">
                <a:solidFill>
                  <a:srgbClr val="9AA3C7"/>
                </a:solidFill>
                <a:latin typeface="Malgun Gothic"/>
                <a:ea typeface="Malgun Gothic"/>
              </a:rPr>
              <a:t>런 화면. 가산 발광 먼지가 늘어나며 끌려오고, 커서 위에서 형성 중인 천체가 자란다 (먼지 1,400개)</a:t>
            </a:r>
          </a:p>
        </p:txBody>
      </p:sp>
      <p:sp>
        <p:nvSpPr>
          <p:cNvPr id="9" name="Oval 8"/>
          <p:cNvSpPr/>
          <p:nvPr/>
        </p:nvSpPr>
        <p:spPr>
          <a:xfrm>
            <a:off x="658368" y="5093208"/>
            <a:ext cx="91440" cy="91440"/>
          </a:xfrm>
          <a:prstGeom prst="ellipse">
            <a:avLst/>
          </a:prstGeom>
          <a:solidFill>
            <a:srgbClr val="4FA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914400" y="5029200"/>
            <a:ext cx="7132320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 i="0" lang="ko-KR">
                <a:solidFill>
                  <a:srgbClr val="C9D3F0"/>
                </a:solidFill>
                <a:latin typeface="Malgun Gothic"/>
                <a:ea typeface="Malgun Gothic"/>
              </a:rPr>
              <a:t>셰이더 하나에 표면 4종(암석, 지구형, 가스, 항성). 텍스처 없음. 형성 중인 천체가 커서 위에서 자란다</a:t>
            </a:r>
          </a:p>
        </p:txBody>
      </p:sp>
      <p:sp>
        <p:nvSpPr>
          <p:cNvPr id="11" name="Oval 10"/>
          <p:cNvSpPr/>
          <p:nvPr/>
        </p:nvSpPr>
        <p:spPr>
          <a:xfrm>
            <a:off x="658368" y="5477256"/>
            <a:ext cx="91440" cy="91440"/>
          </a:xfrm>
          <a:prstGeom prst="ellipse">
            <a:avLst/>
          </a:prstGeom>
          <a:solidFill>
            <a:srgbClr val="4FA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14400" y="5413248"/>
            <a:ext cx="7132320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 i="0" lang="ko-KR">
                <a:solidFill>
                  <a:srgbClr val="C9D3F0"/>
                </a:solidFill>
                <a:latin typeface="Malgun Gothic"/>
                <a:ea typeface="Malgun Gothic"/>
              </a:rPr>
              <a:t>배경 Starfield와 팔레트 4단계, 생애 최초 항성 점화 연출(섬광 + 빛 고리). 연출 강도 F11로 0·0.5·1</a:t>
            </a:r>
          </a:p>
        </p:txBody>
      </p:sp>
      <p:sp>
        <p:nvSpPr>
          <p:cNvPr id="13" name="Oval 12"/>
          <p:cNvSpPr/>
          <p:nvPr/>
        </p:nvSpPr>
        <p:spPr>
          <a:xfrm>
            <a:off x="658368" y="5861304"/>
            <a:ext cx="91440" cy="91440"/>
          </a:xfrm>
          <a:prstGeom prst="ellipse">
            <a:avLst/>
          </a:prstGeom>
          <a:solidFill>
            <a:srgbClr val="4FA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14400" y="5797296"/>
            <a:ext cx="7132320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 i="0" lang="ko-KR">
                <a:solidFill>
                  <a:srgbClr val="C9D3F0"/>
                </a:solidFill>
                <a:latin typeface="Malgun Gothic"/>
                <a:ea typeface="Malgun Gothic"/>
              </a:rPr>
              <a:t>결과 화면 ▲증감과 "새 천체" 표시. 천체 129개에서 147fps. 링 1~3 재측정 5.7 / 5.0 / 4.7런. 테스트 137개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21040" y="4983480"/>
            <a:ext cx="3246120" cy="1325880"/>
          </a:xfrm>
          <a:prstGeom prst="roundRect">
            <a:avLst>
              <a:gd name="adj" fmla="val 6000"/>
            </a:avLst>
          </a:prstGeom>
          <a:solidFill>
            <a:srgbClr val="161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8549640" y="5093208"/>
            <a:ext cx="2788920" cy="5943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600" b="1" i="0" lang="ko-KR">
                <a:solidFill>
                  <a:srgbClr val="4FA3E0"/>
                </a:solidFill>
                <a:latin typeface="Malgun Gothic"/>
                <a:ea typeface="Malgun Gothic"/>
              </a:rPr>
              <a:t>4 표면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49640" y="5715000"/>
            <a:ext cx="2788920" cy="50291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00" b="0" i="0" lang="ko-KR">
                <a:solidFill>
                  <a:srgbClr val="9AA3C7"/>
                </a:solidFill>
                <a:latin typeface="Malgun Gothic"/>
                <a:ea typeface="Malgun Gothic"/>
              </a:rPr>
              <a:t>셰이더 하나, 티어 외형 11개. 스프라이트와 텍스처 없음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44652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00" b="0" i="0" lang="ko-KR">
                <a:solidFill>
                  <a:srgbClr val="9AA3C7"/>
                </a:solidFill>
                <a:latin typeface="Malgun Gothic"/>
                <a:ea typeface="Malgun Gothic"/>
              </a:rPr>
              <a:t>1~6주차 요약 · 구현 보고서(Docs/Reports)와 검토 문서 기준 · 작성 2026-10-08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7040" y="644652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900" b="0" i="0" lang="ko-KR">
                <a:solidFill>
                  <a:srgbClr val="9AA3C7"/>
                </a:solidFill>
                <a:latin typeface="Malgun Gothic"/>
                <a:ea typeface="Malgun Gothic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1" i="0" lang="ko-KR">
                <a:solidFill>
                  <a:srgbClr val="F6B94B"/>
                </a:solidFill>
                <a:latin typeface="Malgun Gothic"/>
                <a:ea typeface="Malgun Gothic"/>
              </a:rPr>
              <a:t>Reports/Week5_Ending.md · 2026-09-19 · 브랜치 ending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21792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000" b="1" i="0" lang="ko-KR">
                <a:solidFill>
                  <a:srgbClr val="EEF1FA"/>
                </a:solidFill>
                <a:latin typeface="Malgun Gothic"/>
                <a:ea typeface="Malgun Gothic"/>
              </a:rPr>
              <a:t>5주차: 초신성 엔딩과 봇 완주</a:t>
            </a:r>
          </a:p>
        </p:txBody>
      </p:sp>
      <p:pic>
        <p:nvPicPr>
          <p:cNvPr id="5" name="Picture 4" descr="ending_4.38s_blast_pea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463040"/>
            <a:ext cx="5349240" cy="3008948"/>
          </a:xfrm>
          <a:prstGeom prst="rect">
            <a:avLst/>
          </a:prstGeom>
          <a:ln w="15875">
            <a:solidFill>
              <a:srgbClr val="1F2852"/>
            </a:solidFill>
          </a:ln>
        </p:spPr>
      </p:pic>
      <p:pic>
        <p:nvPicPr>
          <p:cNvPr id="6" name="Picture 5" descr="ending_10s_remnan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463040"/>
            <a:ext cx="5349240" cy="3008948"/>
          </a:xfrm>
          <a:prstGeom prst="rect">
            <a:avLst/>
          </a:prstGeom>
          <a:ln w="15875">
            <a:solidFill>
              <a:srgbClr val="1F2852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640080" y="4526280"/>
            <a:ext cx="5349240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50" b="0" i="0" lang="ko-KR">
                <a:solidFill>
                  <a:srgbClr val="9AA3C7"/>
                </a:solidFill>
                <a:latin typeface="Malgun Gothic"/>
                <a:ea typeface="Malgun Gothic"/>
              </a:rPr>
              <a:t>엔딩 시퀀스 4.38초, 폭발의 가장 밝은 프레임. 화면 평균 밝기 92/255, 좌우 가장자리는 어둡게 남는다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4526280"/>
            <a:ext cx="5349240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50" b="0" i="0" lang="ko-KR">
                <a:solidFill>
                  <a:srgbClr val="9AA3C7"/>
                </a:solidFill>
                <a:latin typeface="Malgun Gothic"/>
                <a:ea typeface="Malgun Gothic"/>
              </a:rPr>
              <a:t>10초, 잔해 성운. 흩어진 먼지가 떠돌고 블랙홀이 나타난다. 이후 크레딧과 엔들리스</a:t>
            </a:r>
          </a:p>
        </p:txBody>
      </p:sp>
      <p:sp>
        <p:nvSpPr>
          <p:cNvPr id="9" name="Oval 8"/>
          <p:cNvSpPr/>
          <p:nvPr/>
        </p:nvSpPr>
        <p:spPr>
          <a:xfrm>
            <a:off x="658368" y="5093208"/>
            <a:ext cx="91440" cy="91440"/>
          </a:xfrm>
          <a:prstGeom prst="ellipse">
            <a:avLst/>
          </a:prstGeom>
          <a:solidFill>
            <a:srgbClr val="F07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914400" y="5029200"/>
            <a:ext cx="7132320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 i="0" lang="ko-KR">
                <a:solidFill>
                  <a:srgbClr val="C9D3F0"/>
                </a:solidFill>
                <a:latin typeface="Malgun Gothic"/>
                <a:ea typeface="Malgun Gothic"/>
              </a:rPr>
              <a:t>첫 청색 거성 → 먼지 흡수 → 붕괴 → 폭발과 충격파 → 잔해 성운 → 크레딧 → 엔들리스(블랙홀, 잔해 팔레트)</a:t>
            </a:r>
          </a:p>
        </p:txBody>
      </p:sp>
      <p:sp>
        <p:nvSpPr>
          <p:cNvPr id="11" name="Oval 10"/>
          <p:cNvSpPr/>
          <p:nvPr/>
        </p:nvSpPr>
        <p:spPr>
          <a:xfrm>
            <a:off x="658368" y="5477256"/>
            <a:ext cx="91440" cy="91440"/>
          </a:xfrm>
          <a:prstGeom prst="ellipse">
            <a:avLst/>
          </a:prstGeom>
          <a:solidFill>
            <a:srgbClr val="F07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14400" y="5413248"/>
            <a:ext cx="7132320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 i="0" lang="ko-KR">
                <a:solidFill>
                  <a:srgbClr val="C9D3F0"/>
                </a:solidFill>
                <a:latin typeface="Malgun Gothic"/>
                <a:ea typeface="Malgun Gothic"/>
              </a:rPr>
              <a:t>섬광 규칙(최고 알파 0.35, 방사형 감쇠)을 모든 섬광에 적용. 먼지는 따뜻한 색, 별은 무채색으로 구분</a:t>
            </a:r>
          </a:p>
        </p:txBody>
      </p:sp>
      <p:sp>
        <p:nvSpPr>
          <p:cNvPr id="13" name="Oval 12"/>
          <p:cNvSpPr/>
          <p:nvPr/>
        </p:nvSpPr>
        <p:spPr>
          <a:xfrm>
            <a:off x="658368" y="5861304"/>
            <a:ext cx="91440" cy="91440"/>
          </a:xfrm>
          <a:prstGeom prst="ellipse">
            <a:avLst/>
          </a:prstGeom>
          <a:solidFill>
            <a:srgbClr val="F07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14400" y="5797296"/>
            <a:ext cx="7132320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 i="0" lang="ko-KR">
                <a:solidFill>
                  <a:srgbClr val="C9D3F0"/>
                </a:solidFill>
                <a:latin typeface="Malgun Gothic"/>
                <a:ea typeface="Malgun Gothic"/>
              </a:rPr>
              <a:t>봇이 새 게임에서 엔딩까지 자연 완주 31런 50분. 링 스냅샷 10개. 재실행 복구와 연출 강도 0 확인. 테스트 153개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21040" y="4983480"/>
            <a:ext cx="3246120" cy="1325880"/>
          </a:xfrm>
          <a:prstGeom prst="roundRect">
            <a:avLst>
              <a:gd name="adj" fmla="val 6000"/>
            </a:avLst>
          </a:prstGeom>
          <a:solidFill>
            <a:srgbClr val="161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8549640" y="5093208"/>
            <a:ext cx="2788920" cy="5943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600" b="1" i="0" lang="ko-KR">
                <a:solidFill>
                  <a:srgbClr val="F0705A"/>
                </a:solidFill>
                <a:latin typeface="Malgun Gothic"/>
                <a:ea typeface="Malgun Gothic"/>
              </a:rPr>
              <a:t>31런 · 50분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49640" y="5715000"/>
            <a:ext cx="2788920" cy="50291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00" b="0" i="0" lang="ko-KR">
                <a:solidFill>
                  <a:srgbClr val="9AA3C7"/>
                </a:solidFill>
                <a:latin typeface="Malgun Gothic"/>
                <a:ea typeface="Malgun Gothic"/>
              </a:rPr>
              <a:t>봇 완주. 링 5~11이 빨라 6주차 밸런스로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44652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00" b="0" i="0" lang="ko-KR">
                <a:solidFill>
                  <a:srgbClr val="9AA3C7"/>
                </a:solidFill>
                <a:latin typeface="Malgun Gothic"/>
                <a:ea typeface="Malgun Gothic"/>
              </a:rPr>
              <a:t>1~6주차 요약 · 구현 보고서(Docs/Reports)와 검토 문서 기준 · 작성 2026-10-08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7040" y="644652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900" b="0" i="0" lang="ko-KR">
                <a:solidFill>
                  <a:srgbClr val="9AA3C7"/>
                </a:solidFill>
                <a:latin typeface="Malgun Gothic"/>
                <a:ea typeface="Malgun Gothic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1" i="0" lang="ko-KR">
                <a:solidFill>
                  <a:srgbClr val="F6B94B"/>
                </a:solidFill>
                <a:latin typeface="Malgun Gothic"/>
                <a:ea typeface="Malgun Gothic"/>
              </a:rPr>
              <a:t>Reports/QuickFix1.md · 18_Feedback_Round1.md · 2026-09-22 · 브랜치 quickfix1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21792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000" b="1" i="0" lang="ko-KR">
                <a:solidFill>
                  <a:srgbClr val="EEF1FA"/>
                </a:solidFill>
                <a:latin typeface="Malgun Gothic"/>
                <a:ea typeface="Malgun Gothic"/>
              </a:rPr>
              <a:t>1차 점검과 즉시 수정</a:t>
            </a:r>
          </a:p>
        </p:txBody>
      </p:sp>
      <p:pic>
        <p:nvPicPr>
          <p:cNvPr id="5" name="Picture 4" descr="comet_tail_comp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463040"/>
            <a:ext cx="5669280" cy="2933523"/>
          </a:xfrm>
          <a:prstGeom prst="rect">
            <a:avLst/>
          </a:prstGeom>
          <a:ln w="15875">
            <a:solidFill>
              <a:srgbClr val="1F2852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640080" y="4480560"/>
            <a:ext cx="566928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50" b="0" i="0" lang="ko-KR">
                <a:solidFill>
                  <a:srgbClr val="9AA3C7"/>
                </a:solidFill>
                <a:latin typeface="Malgun Gothic"/>
                <a:ea typeface="Malgun Gothic"/>
              </a:rPr>
              <a:t>혜성 꼬리 수정 전후. 길이 6 → 3.5 반지름, 끝 폭 48% 좁게. 꼬리 수치를 셰이더 상수에서 데이터로 뺐다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75120" y="1417320"/>
            <a:ext cx="489204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500" b="1" i="0" lang="ko-KR">
                <a:solidFill>
                  <a:srgbClr val="6FD0F7"/>
                </a:solidFill>
                <a:latin typeface="Malgun Gothic"/>
                <a:ea typeface="Malgun Gothic"/>
              </a:rPr>
              <a:t>개발자가 처음 플레이한 뒤</a:t>
            </a:r>
          </a:p>
        </p:txBody>
      </p:sp>
      <p:sp>
        <p:nvSpPr>
          <p:cNvPr id="8" name="Oval 7"/>
          <p:cNvSpPr/>
          <p:nvPr/>
        </p:nvSpPr>
        <p:spPr>
          <a:xfrm>
            <a:off x="6693408" y="1938528"/>
            <a:ext cx="91440" cy="91440"/>
          </a:xfrm>
          <a:prstGeom prst="ellipse">
            <a:avLst/>
          </a:prstGeom>
          <a:solidFill>
            <a:srgbClr val="6FD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949440" y="1874519"/>
            <a:ext cx="461772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0" i="0" lang="ko-KR">
                <a:solidFill>
                  <a:srgbClr val="C9D3F0"/>
                </a:solidFill>
                <a:latin typeface="Malgun Gothic"/>
                <a:ea typeface="Malgun Gothic"/>
              </a:rPr>
              <a:t>12런 플레이 기록이 남았다. 치트 없이 스태미나로 끝난 런의 홀드 비율 0.77~0.99, 평균 0.92</a:t>
            </a:r>
          </a:p>
        </p:txBody>
      </p:sp>
      <p:sp>
        <p:nvSpPr>
          <p:cNvPr id="10" name="Oval 9"/>
          <p:cNvSpPr/>
          <p:nvPr/>
        </p:nvSpPr>
        <p:spPr>
          <a:xfrm>
            <a:off x="6693408" y="2578608"/>
            <a:ext cx="91440" cy="91440"/>
          </a:xfrm>
          <a:prstGeom prst="ellipse">
            <a:avLst/>
          </a:prstGeom>
          <a:solidFill>
            <a:srgbClr val="6FD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949440" y="2514600"/>
            <a:ext cx="461772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0" i="0" lang="ko-KR">
                <a:solidFill>
                  <a:srgbClr val="C9D3F0"/>
                </a:solidFill>
                <a:latin typeface="Malgun Gothic"/>
                <a:ea typeface="Malgun Gothic"/>
              </a:rPr>
              <a:t>피드백 정리(18): 즉시 수정 3건, 흡인 보정, 먼지 종류, 다양성 보너스, 특수 능력, 이동 제한 실험</a:t>
            </a:r>
          </a:p>
        </p:txBody>
      </p:sp>
      <p:sp>
        <p:nvSpPr>
          <p:cNvPr id="12" name="Oval 11"/>
          <p:cNvSpPr/>
          <p:nvPr/>
        </p:nvSpPr>
        <p:spPr>
          <a:xfrm>
            <a:off x="6693408" y="3218688"/>
            <a:ext cx="91440" cy="91440"/>
          </a:xfrm>
          <a:prstGeom prst="ellipse">
            <a:avLst/>
          </a:prstGeom>
          <a:solidFill>
            <a:srgbClr val="6FD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949440" y="3154679"/>
            <a:ext cx="461772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0" i="0" lang="ko-KR">
                <a:solidFill>
                  <a:srgbClr val="C9D3F0"/>
                </a:solidFill>
                <a:latin typeface="Malgun Gothic"/>
                <a:ea typeface="Malgun Gothic"/>
              </a:rPr>
              <a:t>즉시 수정 A1: 스태미나 소모 홀드 1.0 → 1.5, 대기 0.2 → 0.3. F10으로 프리셋 3개 비교</a:t>
            </a:r>
          </a:p>
        </p:txBody>
      </p:sp>
      <p:sp>
        <p:nvSpPr>
          <p:cNvPr id="14" name="Oval 13"/>
          <p:cNvSpPr/>
          <p:nvPr/>
        </p:nvSpPr>
        <p:spPr>
          <a:xfrm>
            <a:off x="6693408" y="3858768"/>
            <a:ext cx="91440" cy="91440"/>
          </a:xfrm>
          <a:prstGeom prst="ellipse">
            <a:avLst/>
          </a:prstGeom>
          <a:solidFill>
            <a:srgbClr val="6FD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6949440" y="3794759"/>
            <a:ext cx="461772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0" i="0" lang="ko-KR">
                <a:solidFill>
                  <a:srgbClr val="C9D3F0"/>
                </a:solidFill>
                <a:latin typeface="Malgun Gothic"/>
                <a:ea typeface="Malgun Gothic"/>
              </a:rPr>
              <a:t>A2: 천체 퇴장 1.35초 → 0.75초.  A3: 혜성 꼬리. 테스트 165개, 규칙 변경 없음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675120" y="4800600"/>
            <a:ext cx="4892040" cy="1325880"/>
          </a:xfrm>
          <a:prstGeom prst="roundRect">
            <a:avLst>
              <a:gd name="adj" fmla="val 6000"/>
            </a:avLst>
          </a:prstGeom>
          <a:solidFill>
            <a:srgbClr val="161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903720" y="4910328"/>
            <a:ext cx="4434840" cy="5943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600" b="1" i="0" lang="ko-KR">
                <a:solidFill>
                  <a:srgbClr val="6FD0F7"/>
                </a:solidFill>
                <a:latin typeface="Malgun Gothic"/>
                <a:ea typeface="Malgun Gothic"/>
              </a:rPr>
              <a:t>홀드 0.92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03720" y="5532120"/>
            <a:ext cx="4434840" cy="50291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00" b="0" i="0" lang="ko-KR">
                <a:solidFill>
                  <a:srgbClr val="9AA3C7"/>
                </a:solidFill>
                <a:latin typeface="Malgun Gothic"/>
                <a:ea typeface="Malgun Gothic"/>
              </a:rPr>
              <a:t>사람도 런의 92%를 홀드한다. 봇(100%)과 거의 같아 봇 시간을 사람 시간으로 읽는다 (21 §2)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5074920"/>
            <a:ext cx="5669280" cy="1234440"/>
          </a:xfrm>
          <a:prstGeom prst="roundRect">
            <a:avLst>
              <a:gd name="adj" fmla="val 6000"/>
            </a:avLst>
          </a:prstGeom>
          <a:solidFill>
            <a:srgbClr val="161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68680" y="5193792"/>
            <a:ext cx="5212080" cy="10058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50" b="1" i="0" lang="ko-KR">
                <a:solidFill>
                  <a:srgbClr val="F6B94B"/>
                </a:solidFill>
                <a:latin typeface="Malgun Gothic"/>
                <a:ea typeface="Malgun Gothic"/>
              </a:rPr>
              <a:t>여기서 정해진 것  </a:t>
            </a:r>
            <a:r>
              <a:rPr sz="1050" b="0" i="0" lang="ko-KR">
                <a:solidFill>
                  <a:srgbClr val="C9D3F0"/>
                </a:solidFill>
                <a:latin typeface="Malgun Gothic"/>
                <a:ea typeface="Malgun Gothic"/>
              </a:rPr>
              <a:t>먼지 종류는 트리 해금 방식(C1), 특수 능력 채택(C3), 하위 티어 대책은 가격 곡선 완화 + 파편(C2). 전부 6주차 스펙으로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44652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00" b="0" i="0" lang="ko-KR">
                <a:solidFill>
                  <a:srgbClr val="9AA3C7"/>
                </a:solidFill>
                <a:latin typeface="Malgun Gothic"/>
                <a:ea typeface="Malgun Gothic"/>
              </a:rPr>
              <a:t>1~6주차 요약 · 구현 보고서(Docs/Reports)와 검토 문서 기준 · 작성 2026-10-08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7040" y="644652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900" b="0" i="0" lang="ko-KR">
                <a:solidFill>
                  <a:srgbClr val="9AA3C7"/>
                </a:solidFill>
                <a:latin typeface="Malgun Gothic"/>
                <a:ea typeface="Malgun Gothic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1" i="0" lang="ko-KR">
                <a:solidFill>
                  <a:srgbClr val="F6B94B"/>
                </a:solidFill>
                <a:latin typeface="Malgun Gothic"/>
                <a:ea typeface="Malgun Gothic"/>
              </a:rPr>
              <a:t>Reports/Week6.md · 2026-09-29 · 브랜치 week6 · 커밋 A~E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21792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000" b="1" i="0" lang="ko-KR">
                <a:solidFill>
                  <a:srgbClr val="EEF1FA"/>
                </a:solidFill>
                <a:latin typeface="Malgun Gothic"/>
                <a:ea typeface="Malgun Gothic"/>
              </a:rPr>
              <a:t>6주차: 손맛, 다양성, 밸런스</a:t>
            </a:r>
          </a:p>
        </p:txBody>
      </p:sp>
      <p:pic>
        <p:nvPicPr>
          <p:cNvPr id="5" name="Picture 4" descr="kinds_ring9_1200m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463040"/>
            <a:ext cx="5349240" cy="3008948"/>
          </a:xfrm>
          <a:prstGeom prst="rect">
            <a:avLst/>
          </a:prstGeom>
          <a:ln w="15875">
            <a:solidFill>
              <a:srgbClr val="1F2852"/>
            </a:solidFill>
          </a:ln>
        </p:spPr>
      </p:pic>
      <p:pic>
        <p:nvPicPr>
          <p:cNvPr id="6" name="Picture 5" descr="balance_result_2000m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463040"/>
            <a:ext cx="5349240" cy="3008948"/>
          </a:xfrm>
          <a:prstGeom prst="rect">
            <a:avLst/>
          </a:prstGeom>
          <a:ln w="15875">
            <a:solidFill>
              <a:srgbClr val="1F2852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640080" y="4526280"/>
            <a:ext cx="5349240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50" b="0" i="0" lang="ko-KR">
                <a:solidFill>
                  <a:srgbClr val="9AA3C7"/>
                </a:solidFill>
                <a:latin typeface="Malgun Gothic"/>
                <a:ea typeface="Malgun Gothic"/>
              </a:rPr>
              <a:t>링 9 런 화면. 먼지 5종(점, 조각, 덩어리, 결정, 성간)이 섞여 있다. 종류는 트리에서 해금한다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4526280"/>
            <a:ext cx="5349240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50" b="0" i="0" lang="ko-KR">
                <a:solidFill>
                  <a:srgbClr val="9AA3C7"/>
                </a:solidFill>
                <a:latin typeface="Malgun Gothic"/>
                <a:ea typeface="Malgun Gothic"/>
              </a:rPr>
              <a:t>봇 완주 런 47 결과. 11개 티어가 모두 궤도에 있다. 하위 티어 문제의 "after" 그림</a:t>
            </a:r>
          </a:p>
        </p:txBody>
      </p:sp>
      <p:sp>
        <p:nvSpPr>
          <p:cNvPr id="9" name="Oval 8"/>
          <p:cNvSpPr/>
          <p:nvPr/>
        </p:nvSpPr>
        <p:spPr>
          <a:xfrm>
            <a:off x="658368" y="5093208"/>
            <a:ext cx="91440" cy="91440"/>
          </a:xfrm>
          <a:prstGeom prst="ellipse">
            <a:avLst/>
          </a:prstGeom>
          <a:solidFill>
            <a:srgbClr val="7DD3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914400" y="5029200"/>
            <a:ext cx="7132320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 i="0" lang="ko-KR">
                <a:solidFill>
                  <a:srgbClr val="C9D3F0"/>
                </a:solidFill>
                <a:latin typeface="Malgun Gothic"/>
                <a:ea typeface="Malgun Gothic"/>
              </a:rPr>
              <a:t>먼지 흡인 보정: 4구간 힘 곡선과 접선 감쇠, 통과 방지. 정지 홀드 유입 ×2.1~2.6 (물리 상한은 1.5개/초)</a:t>
            </a:r>
          </a:p>
        </p:txBody>
      </p:sp>
      <p:sp>
        <p:nvSpPr>
          <p:cNvPr id="11" name="Oval 10"/>
          <p:cNvSpPr/>
          <p:nvPr/>
        </p:nvSpPr>
        <p:spPr>
          <a:xfrm>
            <a:off x="658368" y="5477256"/>
            <a:ext cx="91440" cy="91440"/>
          </a:xfrm>
          <a:prstGeom prst="ellipse">
            <a:avLst/>
          </a:prstGeom>
          <a:solidFill>
            <a:srgbClr val="7DD3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14400" y="5413248"/>
            <a:ext cx="7132320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 i="0" lang="ko-KR">
                <a:solidFill>
                  <a:srgbClr val="C9D3F0"/>
                </a:solidFill>
                <a:latin typeface="Malgun Gothic"/>
                <a:ea typeface="Malgun Gothic"/>
              </a:rPr>
              <a:t>먼지 종류 5종을 트리 해금으로(먼지 질량 복리 노드 제거), 파편 시스템(파편 수입 3.38%). 추종 속도 실험 Insert 키</a:t>
            </a:r>
          </a:p>
        </p:txBody>
      </p:sp>
      <p:sp>
        <p:nvSpPr>
          <p:cNvPr id="13" name="Oval 12"/>
          <p:cNvSpPr/>
          <p:nvPr/>
        </p:nvSpPr>
        <p:spPr>
          <a:xfrm>
            <a:off x="658368" y="5861304"/>
            <a:ext cx="91440" cy="91440"/>
          </a:xfrm>
          <a:prstGeom prst="ellipse">
            <a:avLst/>
          </a:prstGeom>
          <a:solidFill>
            <a:srgbClr val="7DD3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14400" y="5797296"/>
            <a:ext cx="7132320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 i="0" lang="ko-KR">
                <a:solidFill>
                  <a:srgbClr val="C9D3F0"/>
                </a:solidFill>
                <a:latin typeface="Malgun Gothic"/>
                <a:ea typeface="Malgun Gothic"/>
              </a:rPr>
              <a:t>가격 곡선 완화: 질량당 가치 티어당 ×3 → ×1.6 (티어 11/1이 10만 배 → 110배). 링 비용은 실측 I_k로 재생성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21040" y="4983480"/>
            <a:ext cx="3246120" cy="1325880"/>
          </a:xfrm>
          <a:prstGeom prst="roundRect">
            <a:avLst>
              <a:gd name="adj" fmla="val 6000"/>
            </a:avLst>
          </a:prstGeom>
          <a:solidFill>
            <a:srgbClr val="161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8549640" y="5093208"/>
            <a:ext cx="2788920" cy="5943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600" b="1" i="0" lang="ko-KR">
                <a:solidFill>
                  <a:srgbClr val="7DD3A0"/>
                </a:solidFill>
                <a:latin typeface="Malgun Gothic"/>
                <a:ea typeface="Malgun Gothic"/>
              </a:rPr>
              <a:t>47런 · 85분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49640" y="5715000"/>
            <a:ext cx="2788920" cy="50291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00" b="0" i="0" lang="ko-KR">
                <a:solidFill>
                  <a:srgbClr val="9AA3C7"/>
                </a:solidFill>
                <a:latin typeface="Malgun Gothic"/>
                <a:ea typeface="Malgun Gothic"/>
              </a:rPr>
              <a:t>봇 완주. 링별 런 수 전부 목표 안. 테스트 197개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44652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00" b="0" i="0" lang="ko-KR">
                <a:solidFill>
                  <a:srgbClr val="9AA3C7"/>
                </a:solidFill>
                <a:latin typeface="Malgun Gothic"/>
                <a:ea typeface="Malgun Gothic"/>
              </a:rPr>
              <a:t>1~6주차 요약 · 구현 보고서(Docs/Reports)와 검토 문서 기준 · 작성 2026-10-08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7040" y="644652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900" b="0" i="0" lang="ko-KR">
                <a:solidFill>
                  <a:srgbClr val="9AA3C7"/>
                </a:solidFill>
                <a:latin typeface="Malgun Gothic"/>
                <a:ea typeface="Malgun Gothic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1" i="0" lang="ko-KR">
                <a:solidFill>
                  <a:srgbClr val="F6B94B"/>
                </a:solidFill>
                <a:latin typeface="Malgun Gothic"/>
                <a:ea typeface="Malgun Gothic"/>
              </a:rPr>
              <a:t>보고서의 합격 기준 표와 봇 완주 로그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21792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000" b="1" i="0" lang="ko-KR">
                <a:solidFill>
                  <a:srgbClr val="EEF1FA"/>
                </a:solidFill>
                <a:latin typeface="Malgun Gothic"/>
                <a:ea typeface="Malgun Gothic"/>
              </a:rPr>
              <a:t>수치로 본 여섯 묶음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63040"/>
            <a:ext cx="5394960" cy="3977639"/>
          </a:xfrm>
          <a:prstGeom prst="roundRect">
            <a:avLst>
              <a:gd name="adj" fmla="val 6000"/>
            </a:avLst>
          </a:prstGeom>
          <a:solidFill>
            <a:srgbClr val="161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68680" y="1581912"/>
            <a:ext cx="493776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1" i="0" lang="ko-KR">
                <a:solidFill>
                  <a:srgbClr val="6FD0F7"/>
                </a:solidFill>
                <a:latin typeface="Malgun Gothic"/>
                <a:ea typeface="Malgun Gothic"/>
              </a:rPr>
              <a:t>EditMode 테스트 수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777240" y="1965960"/>
          <a:ext cx="5120640" cy="33832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355080" y="1417320"/>
            <a:ext cx="521208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1" i="0" lang="ko-KR">
                <a:solidFill>
                  <a:srgbClr val="6FD0F7"/>
                </a:solidFill>
                <a:latin typeface="Malgun Gothic"/>
                <a:ea typeface="Malgun Gothic"/>
              </a:rPr>
              <a:t>6주차 봇 완주의 합격 기준 (Week6 §5.3)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55080" y="1874519"/>
            <a:ext cx="5212080" cy="438912"/>
          </a:xfrm>
          <a:prstGeom prst="roundRect">
            <a:avLst>
              <a:gd name="adj" fmla="val 15000"/>
            </a:avLst>
          </a:prstGeom>
          <a:solidFill>
            <a:srgbClr val="161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537960" y="1874519"/>
            <a:ext cx="2011680" cy="43891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50" b="1" i="0" lang="ko-KR">
                <a:solidFill>
                  <a:srgbClr val="EEF1FA"/>
                </a:solidFill>
                <a:latin typeface="Malgun Gothic"/>
                <a:ea typeface="Malgun Gothic"/>
              </a:rPr>
              <a:t>링 1~4 각 런 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49640" y="1874519"/>
            <a:ext cx="1280160" cy="43891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0" i="0" lang="ko-KR">
                <a:solidFill>
                  <a:srgbClr val="9AA3C7"/>
                </a:solidFill>
                <a:latin typeface="Malgun Gothic"/>
                <a:ea typeface="Malgun Gothic"/>
              </a:rPr>
              <a:t>4~6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29800" y="1874519"/>
            <a:ext cx="1188720" cy="43891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0" i="0" lang="ko-KR">
                <a:solidFill>
                  <a:srgbClr val="C9D3F0"/>
                </a:solidFill>
                <a:latin typeface="Malgun Gothic"/>
                <a:ea typeface="Malgun Gothic"/>
              </a:rPr>
              <a:t>5 / 4 / 5 / 6</a:t>
            </a:r>
          </a:p>
        </p:txBody>
      </p:sp>
      <p:sp>
        <p:nvSpPr>
          <p:cNvPr id="13" name="Oval 12"/>
          <p:cNvSpPr/>
          <p:nvPr/>
        </p:nvSpPr>
        <p:spPr>
          <a:xfrm>
            <a:off x="11155680" y="1956816"/>
            <a:ext cx="274320" cy="274320"/>
          </a:xfrm>
          <a:prstGeom prst="ellipse">
            <a:avLst/>
          </a:prstGeom>
          <a:solidFill>
            <a:srgbClr val="7DD3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11155680" y="1956816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900" b="1" i="0" lang="ko-KR">
                <a:solidFill>
                  <a:srgbClr val="0B1026"/>
                </a:solidFill>
                <a:latin typeface="Malgun Gothic"/>
                <a:ea typeface="Malgun Gothic"/>
              </a:rPr>
              <a:t>✓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55080" y="2386584"/>
            <a:ext cx="5212080" cy="438912"/>
          </a:xfrm>
          <a:prstGeom prst="roundRect">
            <a:avLst>
              <a:gd name="adj" fmla="val 15000"/>
            </a:avLst>
          </a:prstGeom>
          <a:solidFill>
            <a:srgbClr val="1F28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6537960" y="2386584"/>
            <a:ext cx="2011680" cy="43891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50" b="1" i="0" lang="ko-KR">
                <a:solidFill>
                  <a:srgbClr val="EEF1FA"/>
                </a:solidFill>
                <a:latin typeface="Malgun Gothic"/>
                <a:ea typeface="Malgun Gothic"/>
              </a:rPr>
              <a:t>링 5~10 각 런 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49640" y="2386584"/>
            <a:ext cx="1280160" cy="43891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0" i="0" lang="ko-KR">
                <a:solidFill>
                  <a:srgbClr val="9AA3C7"/>
                </a:solidFill>
                <a:latin typeface="Malgun Gothic"/>
                <a:ea typeface="Malgun Gothic"/>
              </a:rPr>
              <a:t>3~5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829800" y="2386584"/>
            <a:ext cx="1188720" cy="43891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0" i="0" lang="ko-KR">
                <a:solidFill>
                  <a:srgbClr val="C9D3F0"/>
                </a:solidFill>
                <a:latin typeface="Malgun Gothic"/>
                <a:ea typeface="Malgun Gothic"/>
              </a:rPr>
              <a:t>4 / 5 / 3 / 4 / 5 / 4</a:t>
            </a:r>
          </a:p>
        </p:txBody>
      </p:sp>
      <p:sp>
        <p:nvSpPr>
          <p:cNvPr id="19" name="Oval 18"/>
          <p:cNvSpPr/>
          <p:nvPr/>
        </p:nvSpPr>
        <p:spPr>
          <a:xfrm>
            <a:off x="11155680" y="2468879"/>
            <a:ext cx="274320" cy="274320"/>
          </a:xfrm>
          <a:prstGeom prst="ellipse">
            <a:avLst/>
          </a:prstGeom>
          <a:solidFill>
            <a:srgbClr val="7DD3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11155680" y="2468879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900" b="1" i="0" lang="ko-KR">
                <a:solidFill>
                  <a:srgbClr val="0B1026"/>
                </a:solidFill>
                <a:latin typeface="Malgun Gothic"/>
                <a:ea typeface="Malgun Gothic"/>
              </a:rPr>
              <a:t>✓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55080" y="2898648"/>
            <a:ext cx="5212080" cy="438912"/>
          </a:xfrm>
          <a:prstGeom prst="roundRect">
            <a:avLst>
              <a:gd name="adj" fmla="val 15000"/>
            </a:avLst>
          </a:prstGeom>
          <a:solidFill>
            <a:srgbClr val="161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537960" y="2898648"/>
            <a:ext cx="2011680" cy="43891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50" b="1" i="0" lang="ko-KR">
                <a:solidFill>
                  <a:srgbClr val="EEF1FA"/>
                </a:solidFill>
                <a:latin typeface="Malgun Gothic"/>
                <a:ea typeface="Malgun Gothic"/>
              </a:rPr>
              <a:t>엔딩까지 런 수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49640" y="2898648"/>
            <a:ext cx="1280160" cy="43891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0" i="0" lang="ko-KR">
                <a:solidFill>
                  <a:srgbClr val="9AA3C7"/>
                </a:solidFill>
                <a:latin typeface="Malgun Gothic"/>
                <a:ea typeface="Malgun Gothic"/>
              </a:rPr>
              <a:t>40 이상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829800" y="2898648"/>
            <a:ext cx="1188720" cy="43891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0" i="0" lang="ko-KR">
                <a:solidFill>
                  <a:srgbClr val="C9D3F0"/>
                </a:solidFill>
                <a:latin typeface="Malgun Gothic"/>
                <a:ea typeface="Malgun Gothic"/>
              </a:rPr>
              <a:t>47 (엔딩 46런째)</a:t>
            </a:r>
          </a:p>
        </p:txBody>
      </p:sp>
      <p:sp>
        <p:nvSpPr>
          <p:cNvPr id="25" name="Oval 24"/>
          <p:cNvSpPr/>
          <p:nvPr/>
        </p:nvSpPr>
        <p:spPr>
          <a:xfrm>
            <a:off x="11155680" y="2980944"/>
            <a:ext cx="274320" cy="274320"/>
          </a:xfrm>
          <a:prstGeom prst="ellipse">
            <a:avLst/>
          </a:prstGeom>
          <a:solidFill>
            <a:srgbClr val="7DD3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11155680" y="2980944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900" b="1" i="0" lang="ko-KR">
                <a:solidFill>
                  <a:srgbClr val="0B1026"/>
                </a:solidFill>
                <a:latin typeface="Malgun Gothic"/>
                <a:ea typeface="Malgun Gothic"/>
              </a:rPr>
              <a:t>✓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355080" y="3410712"/>
            <a:ext cx="5212080" cy="438912"/>
          </a:xfrm>
          <a:prstGeom prst="roundRect">
            <a:avLst>
              <a:gd name="adj" fmla="val 15000"/>
            </a:avLst>
          </a:prstGeom>
          <a:solidFill>
            <a:srgbClr val="1F28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6537960" y="3410712"/>
            <a:ext cx="2011680" cy="43891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50" b="1" i="0" lang="ko-KR">
                <a:solidFill>
                  <a:srgbClr val="EEF1FA"/>
                </a:solidFill>
                <a:latin typeface="Malgun Gothic"/>
                <a:ea typeface="Malgun Gothic"/>
              </a:rPr>
              <a:t>봇 게임 시간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49640" y="3410712"/>
            <a:ext cx="1280160" cy="43891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0" i="0" lang="ko-KR">
                <a:solidFill>
                  <a:srgbClr val="9AA3C7"/>
                </a:solidFill>
                <a:latin typeface="Malgun Gothic"/>
                <a:ea typeface="Malgun Gothic"/>
              </a:rPr>
              <a:t>70~90분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829800" y="3410712"/>
            <a:ext cx="1188720" cy="43891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0" i="0" lang="ko-KR">
                <a:solidFill>
                  <a:srgbClr val="C9D3F0"/>
                </a:solidFill>
                <a:latin typeface="Malgun Gothic"/>
                <a:ea typeface="Malgun Gothic"/>
              </a:rPr>
              <a:t>85.4분</a:t>
            </a:r>
          </a:p>
        </p:txBody>
      </p:sp>
      <p:sp>
        <p:nvSpPr>
          <p:cNvPr id="31" name="Oval 30"/>
          <p:cNvSpPr/>
          <p:nvPr/>
        </p:nvSpPr>
        <p:spPr>
          <a:xfrm>
            <a:off x="11155680" y="3493008"/>
            <a:ext cx="274320" cy="274320"/>
          </a:xfrm>
          <a:prstGeom prst="ellipse">
            <a:avLst/>
          </a:prstGeom>
          <a:solidFill>
            <a:srgbClr val="7DD3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11155680" y="3493008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900" b="1" i="0" lang="ko-KR">
                <a:solidFill>
                  <a:srgbClr val="0B1026"/>
                </a:solidFill>
                <a:latin typeface="Malgun Gothic"/>
                <a:ea typeface="Malgun Gothic"/>
              </a:rPr>
              <a:t>✓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355080" y="3922776"/>
            <a:ext cx="5212080" cy="438912"/>
          </a:xfrm>
          <a:prstGeom prst="roundRect">
            <a:avLst>
              <a:gd name="adj" fmla="val 15000"/>
            </a:avLst>
          </a:prstGeom>
          <a:solidFill>
            <a:srgbClr val="161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6537960" y="3922776"/>
            <a:ext cx="2011680" cy="43891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50" b="1" i="0" lang="ko-KR">
                <a:solidFill>
                  <a:srgbClr val="EEF1FA"/>
                </a:solidFill>
                <a:latin typeface="Malgun Gothic"/>
                <a:ea typeface="Malgun Gothic"/>
              </a:rPr>
              <a:t>배율 1.0 미만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49640" y="3922776"/>
            <a:ext cx="1280160" cy="43891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0" i="0" lang="ko-KR">
                <a:solidFill>
                  <a:srgbClr val="9AA3C7"/>
                </a:solidFill>
                <a:latin typeface="Malgun Gothic"/>
                <a:ea typeface="Malgun Gothic"/>
              </a:rPr>
              <a:t>20런당 3회 이하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829800" y="3922776"/>
            <a:ext cx="1188720" cy="43891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0" i="0" lang="ko-KR">
                <a:solidFill>
                  <a:srgbClr val="C9D3F0"/>
                </a:solidFill>
                <a:latin typeface="Malgun Gothic"/>
                <a:ea typeface="Malgun Gothic"/>
              </a:rPr>
              <a:t>20런당 0.9회</a:t>
            </a:r>
          </a:p>
        </p:txBody>
      </p:sp>
      <p:sp>
        <p:nvSpPr>
          <p:cNvPr id="37" name="Oval 36"/>
          <p:cNvSpPr/>
          <p:nvPr/>
        </p:nvSpPr>
        <p:spPr>
          <a:xfrm>
            <a:off x="11155680" y="4005072"/>
            <a:ext cx="274320" cy="274320"/>
          </a:xfrm>
          <a:prstGeom prst="ellipse">
            <a:avLst/>
          </a:prstGeom>
          <a:solidFill>
            <a:srgbClr val="7DD3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11155680" y="4005072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900" b="1" i="0" lang="ko-KR">
                <a:solidFill>
                  <a:srgbClr val="0B1026"/>
                </a:solidFill>
                <a:latin typeface="Malgun Gothic"/>
                <a:ea typeface="Malgun Gothic"/>
              </a:rPr>
              <a:t>✓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355080" y="4434840"/>
            <a:ext cx="5212080" cy="438912"/>
          </a:xfrm>
          <a:prstGeom prst="roundRect">
            <a:avLst>
              <a:gd name="adj" fmla="val 15000"/>
            </a:avLst>
          </a:prstGeom>
          <a:solidFill>
            <a:srgbClr val="1F28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6537960" y="4434840"/>
            <a:ext cx="2011680" cy="43891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50" b="1" i="0" lang="ko-KR">
                <a:solidFill>
                  <a:srgbClr val="EEF1FA"/>
                </a:solidFill>
                <a:latin typeface="Malgun Gothic"/>
                <a:ea typeface="Malgun Gothic"/>
              </a:rPr>
              <a:t>파편 수입 비율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549640" y="4434840"/>
            <a:ext cx="1280160" cy="43891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0" i="0" lang="ko-KR">
                <a:solidFill>
                  <a:srgbClr val="9AA3C7"/>
                </a:solidFill>
                <a:latin typeface="Malgun Gothic"/>
                <a:ea typeface="Malgun Gothic"/>
              </a:rPr>
              <a:t>5% 미만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829800" y="4434840"/>
            <a:ext cx="1188720" cy="43891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0" i="0" lang="ko-KR">
                <a:solidFill>
                  <a:srgbClr val="C9D3F0"/>
                </a:solidFill>
                <a:latin typeface="Malgun Gothic"/>
                <a:ea typeface="Malgun Gothic"/>
              </a:rPr>
              <a:t>3.38%</a:t>
            </a:r>
          </a:p>
        </p:txBody>
      </p:sp>
      <p:sp>
        <p:nvSpPr>
          <p:cNvPr id="43" name="Oval 42"/>
          <p:cNvSpPr/>
          <p:nvPr/>
        </p:nvSpPr>
        <p:spPr>
          <a:xfrm>
            <a:off x="11155680" y="4517136"/>
            <a:ext cx="274320" cy="274320"/>
          </a:xfrm>
          <a:prstGeom prst="ellipse">
            <a:avLst/>
          </a:prstGeom>
          <a:solidFill>
            <a:srgbClr val="7DD3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11155680" y="4517136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900" b="1" i="0" lang="ko-KR">
                <a:solidFill>
                  <a:srgbClr val="0B1026"/>
                </a:solidFill>
                <a:latin typeface="Malgun Gothic"/>
                <a:ea typeface="Malgun Gothic"/>
              </a:rPr>
              <a:t>✓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355080" y="4946904"/>
            <a:ext cx="5212080" cy="438912"/>
          </a:xfrm>
          <a:prstGeom prst="roundRect">
            <a:avLst>
              <a:gd name="adj" fmla="val 15000"/>
            </a:avLst>
          </a:prstGeom>
          <a:solidFill>
            <a:srgbClr val="161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TextBox 45"/>
          <p:cNvSpPr txBox="1"/>
          <p:nvPr/>
        </p:nvSpPr>
        <p:spPr>
          <a:xfrm>
            <a:off x="6537960" y="4946904"/>
            <a:ext cx="2011680" cy="43891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50" b="1" i="0" lang="ko-KR">
                <a:solidFill>
                  <a:srgbClr val="EEF1FA"/>
                </a:solidFill>
                <a:latin typeface="Malgun Gothic"/>
                <a:ea typeface="Malgun Gothic"/>
              </a:rPr>
              <a:t>천체 하나당 홀드 시간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549640" y="4946904"/>
            <a:ext cx="1280160" cy="43891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0" i="0" lang="ko-KR">
                <a:solidFill>
                  <a:srgbClr val="9AA3C7"/>
                </a:solidFill>
                <a:latin typeface="Malgun Gothic"/>
                <a:ea typeface="Malgun Gothic"/>
              </a:rPr>
              <a:t>4~7초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829800" y="4946904"/>
            <a:ext cx="1188720" cy="43891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0" i="0" lang="ko-KR">
                <a:solidFill>
                  <a:srgbClr val="C9D3F0"/>
                </a:solidFill>
                <a:latin typeface="Malgun Gothic"/>
                <a:ea typeface="Malgun Gothic"/>
              </a:rPr>
              <a:t>5.6 ~ 44.9초</a:t>
            </a:r>
          </a:p>
        </p:txBody>
      </p:sp>
      <p:sp>
        <p:nvSpPr>
          <p:cNvPr id="49" name="Oval 48"/>
          <p:cNvSpPr/>
          <p:nvPr/>
        </p:nvSpPr>
        <p:spPr>
          <a:xfrm>
            <a:off x="11155680" y="5029200"/>
            <a:ext cx="274320" cy="274320"/>
          </a:xfrm>
          <a:prstGeom prst="ellipse">
            <a:avLst/>
          </a:prstGeom>
          <a:solidFill>
            <a:srgbClr val="F07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" name="TextBox 49"/>
          <p:cNvSpPr txBox="1"/>
          <p:nvPr/>
        </p:nvSpPr>
        <p:spPr>
          <a:xfrm>
            <a:off x="11155680" y="5029200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900" b="1" i="0" lang="ko-KR">
                <a:solidFill>
                  <a:srgbClr val="0B1026"/>
                </a:solidFill>
                <a:latin typeface="Malgun Gothic"/>
                <a:ea typeface="Malgun Gothic"/>
              </a:rPr>
              <a:t>✗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40080" y="5623560"/>
            <a:ext cx="10881360" cy="685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050" b="1" i="0" lang="ko-KR">
                <a:solidFill>
                  <a:srgbClr val="F6B94B"/>
                </a:solidFill>
                <a:latin typeface="Malgun Gothic"/>
                <a:ea typeface="Malgun Gothic"/>
              </a:rPr>
              <a:t>완주 추이  </a:t>
            </a:r>
            <a:r>
              <a:rPr sz="1050" b="0" i="0" lang="ko-KR">
                <a:solidFill>
                  <a:srgbClr val="C9D3F0"/>
                </a:solidFill>
                <a:latin typeface="Malgun Gothic"/>
                <a:ea typeface="Malgun Gothic"/>
              </a:rPr>
              <a:t>5주차 31런 50분 → 6주차 47런 85분. 사람 홀드 비율 0.92를 적용하면 엔딩까지 약 1.6시간. 목표 2~4시간보다 짧다 (21 §2).</a:t>
            </a:r>
          </a:p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050" b="1" i="0" lang="ko-KR">
                <a:solidFill>
                  <a:srgbClr val="F6B94B"/>
                </a:solidFill>
                <a:latin typeface="Malgun Gothic"/>
                <a:ea typeface="Malgun Gothic"/>
              </a:rPr>
              <a:t>성능  </a:t>
            </a:r>
            <a:r>
              <a:rPr sz="1050" b="0" i="0" lang="ko-KR">
                <a:solidFill>
                  <a:srgbClr val="9AA3C7"/>
                </a:solidFill>
                <a:latin typeface="Malgun Gothic"/>
                <a:ea typeface="Malgun Gothic"/>
              </a:rPr>
              <a:t>전부 에디터 수치. 먼지 3,700개 홀드 중 122.7fps, 결과 화면 셰이더 천체 129개 147.4fps (4주차).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40080" y="644652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00" b="0" i="0" lang="ko-KR">
                <a:solidFill>
                  <a:srgbClr val="9AA3C7"/>
                </a:solidFill>
                <a:latin typeface="Malgun Gothic"/>
                <a:ea typeface="Malgun Gothic"/>
              </a:rPr>
              <a:t>1~6주차 요약 · 구현 보고서(Docs/Reports)와 검토 문서 기준 · 작성 2026-10-08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607040" y="644652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900" b="0" i="0" lang="ko-KR">
                <a:solidFill>
                  <a:srgbClr val="9AA3C7"/>
                </a:solidFill>
                <a:latin typeface="Malgun Gothic"/>
                <a:ea typeface="Malgun Gothic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1" i="0" lang="ko-KR">
                <a:solidFill>
                  <a:srgbClr val="F6B94B"/>
                </a:solidFill>
                <a:latin typeface="Malgun Gothic"/>
                <a:ea typeface="Malgun Gothic"/>
              </a:rPr>
              <a:t>21_Week6_Review.md · 90_Backlog.md · 2026-09-29 이후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21792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000" b="1" i="0" lang="ko-KR">
                <a:solidFill>
                  <a:srgbClr val="EEF1FA"/>
                </a:solidFill>
                <a:latin typeface="Malgun Gothic"/>
                <a:ea typeface="Malgun Gothic"/>
              </a:rPr>
              <a:t>6주차 검토와 그 다음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539496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500" b="1" i="0" lang="ko-KR">
                <a:solidFill>
                  <a:srgbClr val="F0705A"/>
                </a:solidFill>
                <a:latin typeface="Malgun Gothic"/>
                <a:ea typeface="Malgun Gothic"/>
              </a:rPr>
              <a:t>검토에서 드러난 것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74519"/>
            <a:ext cx="5394960" cy="896112"/>
          </a:xfrm>
          <a:prstGeom prst="roundRect">
            <a:avLst>
              <a:gd name="adj" fmla="val 6000"/>
            </a:avLst>
          </a:prstGeom>
          <a:solidFill>
            <a:srgbClr val="161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68680" y="1965960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50" b="1" i="0" lang="ko-KR">
                <a:solidFill>
                  <a:srgbClr val="EEF1FA"/>
                </a:solidFill>
                <a:latin typeface="Malgun Gothic"/>
                <a:ea typeface="Malgun Gothic"/>
              </a:rPr>
              <a:t>하위 티어 문제 해결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258568"/>
            <a:ext cx="4937760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50" b="0" i="0" lang="ko-KR">
                <a:solidFill>
                  <a:srgbClr val="9AA3C7"/>
                </a:solidFill>
                <a:latin typeface="Malgun Gothic"/>
                <a:ea typeface="Malgun Gothic"/>
              </a:rPr>
              <a:t>11개 티어가 전부 결과 태양계에 있다. 질량당 가치 110배와 파편의 결과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880360"/>
            <a:ext cx="5394960" cy="896112"/>
          </a:xfrm>
          <a:prstGeom prst="roundRect">
            <a:avLst>
              <a:gd name="adj" fmla="val 6000"/>
            </a:avLst>
          </a:prstGeom>
          <a:solidFill>
            <a:srgbClr val="161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68680" y="2971800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50" b="1" i="0" lang="ko-KR">
                <a:solidFill>
                  <a:srgbClr val="EEF1FA"/>
                </a:solidFill>
                <a:latin typeface="Malgun Gothic"/>
                <a:ea typeface="Malgun Gothic"/>
              </a:rPr>
              <a:t>기준 하나는 틀렸다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264408"/>
            <a:ext cx="4937760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50" b="0" i="0" lang="ko-KR">
                <a:solidFill>
                  <a:srgbClr val="9AA3C7"/>
                </a:solidFill>
                <a:latin typeface="Malgun Gothic"/>
                <a:ea typeface="Malgun Gothic"/>
              </a:rPr>
              <a:t>정지 홀드 3개/초는 먼지 밀도와 표류 속도상 도달 불가능한 기준. 폐기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886200"/>
            <a:ext cx="5394960" cy="896112"/>
          </a:xfrm>
          <a:prstGeom prst="roundRect">
            <a:avLst>
              <a:gd name="adj" fmla="val 6000"/>
            </a:avLst>
          </a:prstGeom>
          <a:solidFill>
            <a:srgbClr val="161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68680" y="3977639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50" b="1" i="0" lang="ko-KR">
                <a:solidFill>
                  <a:srgbClr val="EEF1FA"/>
                </a:solidFill>
                <a:latin typeface="Malgun Gothic"/>
                <a:ea typeface="Malgun Gothic"/>
              </a:rPr>
              <a:t>진짜 문제는 포획 처리량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4270248"/>
            <a:ext cx="4937760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50" b="0" i="0" lang="ko-KR">
                <a:solidFill>
                  <a:srgbClr val="9AA3C7"/>
                </a:solidFill>
                <a:latin typeface="Malgun Gothic"/>
                <a:ea typeface="Malgun Gothic"/>
              </a:rPr>
              <a:t>천체 하나에 링 1에서 7.8초, 링 11에서 44.9초. 후반 런 6분에 천체 8개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892040"/>
            <a:ext cx="5394960" cy="896112"/>
          </a:xfrm>
          <a:prstGeom prst="roundRect">
            <a:avLst>
              <a:gd name="adj" fmla="val 6000"/>
            </a:avLst>
          </a:prstGeom>
          <a:solidFill>
            <a:srgbClr val="161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868680" y="4983479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50" b="1" i="0" lang="ko-KR">
                <a:solidFill>
                  <a:srgbClr val="EEF1FA"/>
                </a:solidFill>
                <a:latin typeface="Malgun Gothic"/>
                <a:ea typeface="Malgun Gothic"/>
              </a:rPr>
              <a:t>분량이 짧다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5276088"/>
            <a:ext cx="4937760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50" b="0" i="0" lang="ko-KR">
                <a:solidFill>
                  <a:srgbClr val="9AA3C7"/>
                </a:solidFill>
                <a:latin typeface="Malgun Gothic"/>
                <a:ea typeface="Malgun Gothic"/>
              </a:rPr>
              <a:t>사람 기준 약 1.6시간. 목표 2~4시간, 레퍼런스는 3~4시간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1417320"/>
            <a:ext cx="521208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500" b="1" i="0" lang="ko-KR">
                <a:solidFill>
                  <a:srgbClr val="6FD0F7"/>
                </a:solidFill>
                <a:latin typeface="Malgun Gothic"/>
                <a:ea typeface="Malgun Gothic"/>
              </a:rPr>
              <a:t>재조정 목표와 그 뒤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1874519"/>
            <a:ext cx="5212080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1" i="0" lang="ko-KR">
                <a:solidFill>
                  <a:srgbClr val="EEF1FA"/>
                </a:solidFill>
                <a:latin typeface="Malgun Gothic"/>
                <a:ea typeface="Malgun Gothic"/>
              </a:rPr>
              <a:t>런 길이  </a:t>
            </a:r>
            <a:r>
              <a:rPr sz="1100" b="0" i="0" lang="ko-KR">
                <a:solidFill>
                  <a:srgbClr val="C9D3F0"/>
                </a:solidFill>
                <a:latin typeface="Malgun Gothic"/>
                <a:ea typeface="Malgun Gothic"/>
              </a:rPr>
              <a:t>초반 40~60초, 후반 120~180초 (지금 361초)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5080" y="2423160"/>
            <a:ext cx="5212080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1" i="0" lang="ko-KR">
                <a:solidFill>
                  <a:srgbClr val="EEF1FA"/>
                </a:solidFill>
                <a:latin typeface="Malgun Gothic"/>
                <a:ea typeface="Malgun Gothic"/>
              </a:rPr>
              <a:t>천체 하나당  </a:t>
            </a:r>
            <a:r>
              <a:rPr sz="1100" b="0" i="0" lang="ko-KR">
                <a:solidFill>
                  <a:srgbClr val="C9D3F0"/>
                </a:solidFill>
                <a:latin typeface="Malgun Gothic"/>
                <a:ea typeface="Malgun Gothic"/>
              </a:rPr>
              <a:t>5~10초. 런당 천체 10~25개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5080" y="2971800"/>
            <a:ext cx="5212080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1" i="0" lang="ko-KR">
                <a:solidFill>
                  <a:srgbClr val="EEF1FA"/>
                </a:solidFill>
                <a:latin typeface="Malgun Gothic"/>
                <a:ea typeface="Malgun Gothic"/>
              </a:rPr>
              <a:t>엔딩까지  </a:t>
            </a:r>
            <a:r>
              <a:rPr sz="1100" b="0" i="0" lang="ko-KR">
                <a:solidFill>
                  <a:srgbClr val="C9D3F0"/>
                </a:solidFill>
                <a:latin typeface="Malgun Gothic"/>
                <a:ea typeface="Malgun Gothic"/>
              </a:rPr>
              <a:t>60~75런, 사람 2~2.5시간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5080" y="3520439"/>
            <a:ext cx="5212080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1" i="0" lang="ko-KR">
                <a:solidFill>
                  <a:srgbClr val="EEF1FA"/>
                </a:solidFill>
                <a:latin typeface="Malgun Gothic"/>
                <a:ea typeface="Malgun Gothic"/>
              </a:rPr>
              <a:t>손댈 축  </a:t>
            </a:r>
            <a:r>
              <a:rPr sz="1100" b="0" i="0" lang="ko-KR">
                <a:solidFill>
                  <a:srgbClr val="C9D3F0"/>
                </a:solidFill>
                <a:latin typeface="Malgun Gothic"/>
                <a:ea typeface="Malgun Gothic"/>
              </a:rPr>
              <a:t>스태미나 성장 축소, 중력 반경 성장 확대, 먼지 종류 확률 상향, 표류 속도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55080" y="4160520"/>
            <a:ext cx="5212080" cy="1783080"/>
          </a:xfrm>
          <a:prstGeom prst="roundRect">
            <a:avLst>
              <a:gd name="adj" fmla="val 6000"/>
            </a:avLst>
          </a:prstGeom>
          <a:solidFill>
            <a:srgbClr val="1F2852"/>
          </a:solidFill>
          <a:ln w="12700">
            <a:solidFill>
              <a:srgbClr val="F6B9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6583680" y="4279392"/>
            <a:ext cx="4754880" cy="1554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050" b="1" i="0" lang="ko-KR">
                <a:solidFill>
                  <a:srgbClr val="F6B94B"/>
                </a:solidFill>
                <a:latin typeface="Malgun Gothic"/>
                <a:ea typeface="Malgun Gothic"/>
              </a:rPr>
              <a:t>그 뒤 (2026-10-08 현재)  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050" b="0" i="0" lang="ko-KR">
                <a:solidFill>
                  <a:srgbClr val="C9D3F0"/>
                </a:solidFill>
                <a:latin typeface="Malgun Gothic"/>
                <a:ea typeface="Malgun Gothic"/>
              </a:rPr>
              <a:t>7주차: 중력원 추종 속도 기본 적용, 소용돌이와 궤적 리본, 화면 확장, 빌드 성능 기준선(117.5fps), 밸런스 재조정. 사람 기준 약 2.2시간. main에 병합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050" b="0" i="0" lang="ko-KR">
                <a:solidFill>
                  <a:srgbClr val="9AA3C7"/>
                </a:solidFill>
                <a:latin typeface="Malgun Gothic"/>
                <a:ea typeface="Malgun Gothic"/>
              </a:rPr>
              <a:t>이후 특수 능력(수축, 위성, 유성) 프로토타입과 UI 보강이 abilities 브랜치에서 진행 중. 출시일은 정하지 않고 완성 기준 표로 판단한다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644652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00" b="0" i="0" lang="ko-KR">
                <a:solidFill>
                  <a:srgbClr val="9AA3C7"/>
                </a:solidFill>
                <a:latin typeface="Malgun Gothic"/>
                <a:ea typeface="Malgun Gothic"/>
              </a:rPr>
              <a:t>1~6주차 요약 · 구현 보고서(Docs/Reports)와 검토 문서 기준 · 작성 2026-10-08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607040" y="644652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900" b="0" i="0" lang="ko-KR">
                <a:solidFill>
                  <a:srgbClr val="9AA3C7"/>
                </a:solidFill>
                <a:latin typeface="Malgun Gothic"/>
                <a:ea typeface="Malgun Gothic"/>
              </a:rPr>
              <a:t>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