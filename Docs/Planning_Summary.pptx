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7976230" y="4297442"/>
            <a:ext cx="57303" cy="57303"/>
          </a:xfrm>
          <a:prstGeom prst="ellipse">
            <a:avLst/>
          </a:prstGeom>
          <a:solidFill>
            <a:srgbClr val="C9D3F0">
              <a:alpha val="2898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8951691" y="766484"/>
            <a:ext cx="70876" cy="70876"/>
          </a:xfrm>
          <a:prstGeom prst="ellipse">
            <a:avLst/>
          </a:prstGeom>
          <a:solidFill>
            <a:srgbClr val="C9D3F0">
              <a:alpha val="529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9278340" y="852904"/>
            <a:ext cx="38976" cy="38976"/>
          </a:xfrm>
          <a:prstGeom prst="ellipse">
            <a:avLst/>
          </a:prstGeom>
          <a:solidFill>
            <a:srgbClr val="C9D3F0">
              <a:alpha val="2998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1063693" y="1161155"/>
            <a:ext cx="63748" cy="63748"/>
          </a:xfrm>
          <a:prstGeom prst="ellipse">
            <a:avLst/>
          </a:prstGeom>
          <a:solidFill>
            <a:srgbClr val="C9D3F0">
              <a:alpha val="3727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9756" y="3848900"/>
            <a:ext cx="76736" cy="76736"/>
          </a:xfrm>
          <a:prstGeom prst="ellipse">
            <a:avLst/>
          </a:prstGeom>
          <a:solidFill>
            <a:srgbClr val="C9D3F0">
              <a:alpha val="4681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7478643" y="5510061"/>
            <a:ext cx="99064" cy="99064"/>
          </a:xfrm>
          <a:prstGeom prst="ellipse">
            <a:avLst/>
          </a:prstGeom>
          <a:solidFill>
            <a:srgbClr val="C9D3F0">
              <a:alpha val="409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7830841" y="2267787"/>
            <a:ext cx="45809" cy="45809"/>
          </a:xfrm>
          <a:prstGeom prst="ellipse">
            <a:avLst/>
          </a:prstGeom>
          <a:solidFill>
            <a:srgbClr val="C9D3F0">
              <a:alpha val="6988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9950203" y="4230574"/>
            <a:ext cx="48143" cy="48143"/>
          </a:xfrm>
          <a:prstGeom prst="ellipse">
            <a:avLst/>
          </a:prstGeom>
          <a:solidFill>
            <a:srgbClr val="C9D3F0">
              <a:alpha val="4548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7566453" y="775627"/>
            <a:ext cx="71636" cy="71636"/>
          </a:xfrm>
          <a:prstGeom prst="ellipse">
            <a:avLst/>
          </a:prstGeom>
          <a:solidFill>
            <a:srgbClr val="C9D3F0">
              <a:alpha val="3632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9230088" y="2284301"/>
            <a:ext cx="80127" cy="80127"/>
          </a:xfrm>
          <a:prstGeom prst="ellipse">
            <a:avLst/>
          </a:prstGeom>
          <a:solidFill>
            <a:srgbClr val="C9D3F0">
              <a:alpha val="5720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52942" y="5145882"/>
            <a:ext cx="65583" cy="65583"/>
          </a:xfrm>
          <a:prstGeom prst="ellipse">
            <a:avLst/>
          </a:prstGeom>
          <a:solidFill>
            <a:srgbClr val="C9D3F0">
              <a:alpha val="6344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15365" y="3552657"/>
            <a:ext cx="52200" cy="52200"/>
          </a:xfrm>
          <a:prstGeom prst="ellipse">
            <a:avLst/>
          </a:prstGeom>
          <a:solidFill>
            <a:srgbClr val="C9D3F0">
              <a:alpha val="731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90018" y="6241334"/>
            <a:ext cx="83266" cy="83266"/>
          </a:xfrm>
          <a:prstGeom prst="ellipse">
            <a:avLst/>
          </a:prstGeom>
          <a:solidFill>
            <a:srgbClr val="C9D3F0">
              <a:alpha val="314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745178" y="1328865"/>
            <a:ext cx="63339" cy="63339"/>
          </a:xfrm>
          <a:prstGeom prst="ellipse">
            <a:avLst/>
          </a:prstGeom>
          <a:solidFill>
            <a:srgbClr val="C9D3F0">
              <a:alpha val="5189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50740" y="4981960"/>
            <a:ext cx="39085" cy="39085"/>
          </a:xfrm>
          <a:prstGeom prst="ellipse">
            <a:avLst/>
          </a:prstGeom>
          <a:solidFill>
            <a:srgbClr val="C9D3F0">
              <a:alpha val="565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8703346" y="4543450"/>
            <a:ext cx="92613" cy="92613"/>
          </a:xfrm>
          <a:prstGeom prst="ellipse">
            <a:avLst/>
          </a:prstGeom>
          <a:solidFill>
            <a:srgbClr val="C9D3F0">
              <a:alpha val="5769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64123" y="5412785"/>
            <a:ext cx="73693" cy="73693"/>
          </a:xfrm>
          <a:prstGeom prst="ellipse">
            <a:avLst/>
          </a:prstGeom>
          <a:solidFill>
            <a:srgbClr val="C9D3F0">
              <a:alpha val="769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318242" y="784333"/>
            <a:ext cx="66922" cy="66922"/>
          </a:xfrm>
          <a:prstGeom prst="ellipse">
            <a:avLst/>
          </a:prstGeom>
          <a:solidFill>
            <a:srgbClr val="C9D3F0">
              <a:alpha val="635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816635" y="5303393"/>
            <a:ext cx="77997" cy="77997"/>
          </a:xfrm>
          <a:prstGeom prst="ellipse">
            <a:avLst/>
          </a:prstGeom>
          <a:solidFill>
            <a:srgbClr val="C9D3F0">
              <a:alpha val="4065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341645" y="560670"/>
            <a:ext cx="61269" cy="61269"/>
          </a:xfrm>
          <a:prstGeom prst="ellipse">
            <a:avLst/>
          </a:prstGeom>
          <a:solidFill>
            <a:srgbClr val="C9D3F0">
              <a:alpha val="503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7826895" y="783935"/>
            <a:ext cx="47332" cy="47332"/>
          </a:xfrm>
          <a:prstGeom prst="ellipse">
            <a:avLst/>
          </a:prstGeom>
          <a:solidFill>
            <a:srgbClr val="C9D3F0">
              <a:alpha val="6725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24867" y="2758421"/>
            <a:ext cx="44854" cy="44854"/>
          </a:xfrm>
          <a:prstGeom prst="ellipse">
            <a:avLst/>
          </a:prstGeom>
          <a:solidFill>
            <a:srgbClr val="C9D3F0">
              <a:alpha val="729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9348017" y="3701984"/>
            <a:ext cx="41733" cy="41733"/>
          </a:xfrm>
          <a:prstGeom prst="ellipse">
            <a:avLst/>
          </a:prstGeom>
          <a:solidFill>
            <a:srgbClr val="C9D3F0">
              <a:alpha val="7358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220828" y="2067515"/>
            <a:ext cx="89016" cy="89016"/>
          </a:xfrm>
          <a:prstGeom prst="ellipse">
            <a:avLst/>
          </a:prstGeom>
          <a:solidFill>
            <a:srgbClr val="C9D3F0">
              <a:alpha val="478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327959" y="6119801"/>
            <a:ext cx="59540" cy="59540"/>
          </a:xfrm>
          <a:prstGeom prst="ellipse">
            <a:avLst/>
          </a:prstGeom>
          <a:solidFill>
            <a:srgbClr val="C9D3F0">
              <a:alpha val="333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8351779" y="1820128"/>
            <a:ext cx="47855" cy="47855"/>
          </a:xfrm>
          <a:prstGeom prst="ellipse">
            <a:avLst/>
          </a:prstGeom>
          <a:solidFill>
            <a:srgbClr val="C9D3F0">
              <a:alpha val="5167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8479335" y="444388"/>
            <a:ext cx="74284" cy="74284"/>
          </a:xfrm>
          <a:prstGeom prst="ellipse">
            <a:avLst/>
          </a:prstGeom>
          <a:solidFill>
            <a:srgbClr val="C9D3F0">
              <a:alpha val="480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9874406" y="6091927"/>
            <a:ext cx="60211" cy="60211"/>
          </a:xfrm>
          <a:prstGeom prst="ellipse">
            <a:avLst/>
          </a:prstGeom>
          <a:solidFill>
            <a:srgbClr val="C9D3F0">
              <a:alpha val="629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104048" y="4441477"/>
            <a:ext cx="69571" cy="69571"/>
          </a:xfrm>
          <a:prstGeom prst="ellipse">
            <a:avLst/>
          </a:prstGeom>
          <a:solidFill>
            <a:srgbClr val="C9D3F0">
              <a:alpha val="2796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834143" y="5607879"/>
            <a:ext cx="94153" cy="94153"/>
          </a:xfrm>
          <a:prstGeom prst="ellipse">
            <a:avLst/>
          </a:prstGeom>
          <a:solidFill>
            <a:srgbClr val="C9D3F0">
              <a:alpha val="6888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9108485" y="1041737"/>
            <a:ext cx="61691" cy="61691"/>
          </a:xfrm>
          <a:prstGeom prst="ellipse">
            <a:avLst/>
          </a:prstGeom>
          <a:solidFill>
            <a:srgbClr val="C9D3F0">
              <a:alpha val="598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7602833" y="1677724"/>
            <a:ext cx="40560" cy="40560"/>
          </a:xfrm>
          <a:prstGeom prst="ellipse">
            <a:avLst/>
          </a:prstGeom>
          <a:solidFill>
            <a:srgbClr val="C9D3F0">
              <a:alpha val="339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7526404" y="429415"/>
            <a:ext cx="58342" cy="58342"/>
          </a:xfrm>
          <a:prstGeom prst="ellipse">
            <a:avLst/>
          </a:prstGeom>
          <a:solidFill>
            <a:srgbClr val="C9D3F0">
              <a:alpha val="333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8956089" y="587231"/>
            <a:ext cx="43070" cy="43070"/>
          </a:xfrm>
          <a:prstGeom prst="ellipse">
            <a:avLst/>
          </a:prstGeom>
          <a:solidFill>
            <a:srgbClr val="C9D3F0">
              <a:alpha val="7308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7956432" y="1918578"/>
            <a:ext cx="75881" cy="75881"/>
          </a:xfrm>
          <a:prstGeom prst="ellipse">
            <a:avLst/>
          </a:prstGeom>
          <a:solidFill>
            <a:srgbClr val="C9D3F0">
              <a:alpha val="4410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7846891" y="5472998"/>
            <a:ext cx="59885" cy="59885"/>
          </a:xfrm>
          <a:prstGeom prst="ellipse">
            <a:avLst/>
          </a:prstGeom>
          <a:solidFill>
            <a:srgbClr val="C9D3F0">
              <a:alpha val="796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9494090" y="934462"/>
            <a:ext cx="66403" cy="66403"/>
          </a:xfrm>
          <a:prstGeom prst="ellipse">
            <a:avLst/>
          </a:prstGeom>
          <a:solidFill>
            <a:srgbClr val="C9D3F0">
              <a:alpha val="306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8496414" y="5354331"/>
            <a:ext cx="58507" cy="58507"/>
          </a:xfrm>
          <a:prstGeom prst="ellipse">
            <a:avLst/>
          </a:prstGeom>
          <a:solidFill>
            <a:srgbClr val="C9D3F0">
              <a:alpha val="3387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644078" y="3577923"/>
            <a:ext cx="38054" cy="38054"/>
          </a:xfrm>
          <a:prstGeom prst="ellipse">
            <a:avLst/>
          </a:prstGeom>
          <a:solidFill>
            <a:srgbClr val="C9D3F0">
              <a:alpha val="3306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/>
          <p:cNvSpPr/>
          <p:nvPr/>
        </p:nvSpPr>
        <p:spPr>
          <a:xfrm>
            <a:off x="7403166" y="3560399"/>
            <a:ext cx="71343" cy="71343"/>
          </a:xfrm>
          <a:prstGeom prst="ellipse">
            <a:avLst/>
          </a:prstGeom>
          <a:solidFill>
            <a:srgbClr val="C9D3F0">
              <a:alpha val="7881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452293" y="1963246"/>
            <a:ext cx="91835" cy="91835"/>
          </a:xfrm>
          <a:prstGeom prst="ellipse">
            <a:avLst/>
          </a:prstGeom>
          <a:solidFill>
            <a:srgbClr val="C9D3F0">
              <a:alpha val="4516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820866" y="3599082"/>
            <a:ext cx="47268" cy="47268"/>
          </a:xfrm>
          <a:prstGeom prst="ellipse">
            <a:avLst/>
          </a:prstGeom>
          <a:solidFill>
            <a:srgbClr val="C9D3F0">
              <a:alpha val="6784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8306107" y="5251659"/>
            <a:ext cx="57677" cy="57677"/>
          </a:xfrm>
          <a:prstGeom prst="ellipse">
            <a:avLst/>
          </a:prstGeom>
          <a:solidFill>
            <a:srgbClr val="C9D3F0">
              <a:alpha val="7917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Oval 45"/>
          <p:cNvSpPr/>
          <p:nvPr/>
        </p:nvSpPr>
        <p:spPr>
          <a:xfrm>
            <a:off x="10955015" y="5275468"/>
            <a:ext cx="91151" cy="91151"/>
          </a:xfrm>
          <a:prstGeom prst="ellipse">
            <a:avLst/>
          </a:prstGeom>
          <a:solidFill>
            <a:srgbClr val="C9D3F0">
              <a:alpha val="656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Oval 46"/>
          <p:cNvSpPr/>
          <p:nvPr/>
        </p:nvSpPr>
        <p:spPr>
          <a:xfrm>
            <a:off x="9656299" y="2544976"/>
            <a:ext cx="51089" cy="51089"/>
          </a:xfrm>
          <a:prstGeom prst="ellipse">
            <a:avLst/>
          </a:prstGeom>
          <a:solidFill>
            <a:srgbClr val="C9D3F0">
              <a:alpha val="265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8573519" y="1978446"/>
            <a:ext cx="38364" cy="38364"/>
          </a:xfrm>
          <a:prstGeom prst="ellipse">
            <a:avLst/>
          </a:prstGeom>
          <a:solidFill>
            <a:srgbClr val="C9D3F0">
              <a:alpha val="6308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9311024" y="5977578"/>
            <a:ext cx="97800" cy="97800"/>
          </a:xfrm>
          <a:prstGeom prst="ellipse">
            <a:avLst/>
          </a:prstGeom>
          <a:solidFill>
            <a:srgbClr val="C9D3F0">
              <a:alpha val="793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8933463" y="1718688"/>
            <a:ext cx="97703" cy="97703"/>
          </a:xfrm>
          <a:prstGeom prst="ellipse">
            <a:avLst/>
          </a:prstGeom>
          <a:solidFill>
            <a:srgbClr val="C9D3F0">
              <a:alpha val="3747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Oval 50"/>
          <p:cNvSpPr/>
          <p:nvPr/>
        </p:nvSpPr>
        <p:spPr>
          <a:xfrm>
            <a:off x="8225011" y="4141817"/>
            <a:ext cx="49166" cy="49166"/>
          </a:xfrm>
          <a:prstGeom prst="ellipse">
            <a:avLst/>
          </a:prstGeom>
          <a:solidFill>
            <a:srgbClr val="C9D3F0">
              <a:alpha val="745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9462167" y="4293054"/>
            <a:ext cx="90370" cy="90370"/>
          </a:xfrm>
          <a:prstGeom prst="ellipse">
            <a:avLst/>
          </a:prstGeom>
          <a:solidFill>
            <a:srgbClr val="C9D3F0">
              <a:alpha val="689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314396" y="5843550"/>
            <a:ext cx="42002" cy="42002"/>
          </a:xfrm>
          <a:prstGeom prst="ellipse">
            <a:avLst/>
          </a:prstGeom>
          <a:solidFill>
            <a:srgbClr val="C9D3F0">
              <a:alpha val="680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Oval 53"/>
          <p:cNvSpPr/>
          <p:nvPr/>
        </p:nvSpPr>
        <p:spPr>
          <a:xfrm>
            <a:off x="9458470" y="1475966"/>
            <a:ext cx="84590" cy="84590"/>
          </a:xfrm>
          <a:prstGeom prst="ellipse">
            <a:avLst/>
          </a:prstGeom>
          <a:solidFill>
            <a:srgbClr val="C9D3F0">
              <a:alpha val="684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947635" y="6203412"/>
            <a:ext cx="57859" cy="57859"/>
          </a:xfrm>
          <a:prstGeom prst="ellipse">
            <a:avLst/>
          </a:prstGeom>
          <a:solidFill>
            <a:srgbClr val="C9D3F0">
              <a:alpha val="467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612821" y="4733979"/>
            <a:ext cx="62267" cy="62267"/>
          </a:xfrm>
          <a:prstGeom prst="ellipse">
            <a:avLst/>
          </a:prstGeom>
          <a:solidFill>
            <a:srgbClr val="C9D3F0">
              <a:alpha val="343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Oval 56"/>
          <p:cNvSpPr/>
          <p:nvPr/>
        </p:nvSpPr>
        <p:spPr>
          <a:xfrm>
            <a:off x="7983907" y="5812925"/>
            <a:ext cx="44707" cy="44707"/>
          </a:xfrm>
          <a:prstGeom prst="ellipse">
            <a:avLst/>
          </a:prstGeom>
          <a:solidFill>
            <a:srgbClr val="C9D3F0">
              <a:alpha val="693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071039" y="6260780"/>
            <a:ext cx="45932" cy="45932"/>
          </a:xfrm>
          <a:prstGeom prst="ellipse">
            <a:avLst/>
          </a:prstGeom>
          <a:solidFill>
            <a:srgbClr val="C9D3F0">
              <a:alpha val="611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Oval 58"/>
          <p:cNvSpPr/>
          <p:nvPr/>
        </p:nvSpPr>
        <p:spPr>
          <a:xfrm>
            <a:off x="9794171" y="1206213"/>
            <a:ext cx="59004" cy="59004"/>
          </a:xfrm>
          <a:prstGeom prst="ellipse">
            <a:avLst/>
          </a:prstGeom>
          <a:solidFill>
            <a:srgbClr val="C9D3F0">
              <a:alpha val="2578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236152" y="3537626"/>
            <a:ext cx="98720" cy="98720"/>
          </a:xfrm>
          <a:prstGeom prst="ellipse">
            <a:avLst/>
          </a:prstGeom>
          <a:solidFill>
            <a:srgbClr val="C9D3F0">
              <a:alpha val="763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268637" y="5335364"/>
            <a:ext cx="64343" cy="64343"/>
          </a:xfrm>
          <a:prstGeom prst="ellipse">
            <a:avLst/>
          </a:prstGeom>
          <a:solidFill>
            <a:srgbClr val="C9D3F0">
              <a:alpha val="3660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Oval 61"/>
          <p:cNvSpPr/>
          <p:nvPr/>
        </p:nvSpPr>
        <p:spPr>
          <a:xfrm>
            <a:off x="8628295" y="1860522"/>
            <a:ext cx="52695" cy="52695"/>
          </a:xfrm>
          <a:prstGeom prst="ellipse">
            <a:avLst/>
          </a:prstGeom>
          <a:solidFill>
            <a:srgbClr val="C9D3F0">
              <a:alpha val="572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Oval 62"/>
          <p:cNvSpPr/>
          <p:nvPr/>
        </p:nvSpPr>
        <p:spPr>
          <a:xfrm>
            <a:off x="9204336" y="1209660"/>
            <a:ext cx="53177" cy="53177"/>
          </a:xfrm>
          <a:prstGeom prst="ellipse">
            <a:avLst/>
          </a:prstGeom>
          <a:solidFill>
            <a:srgbClr val="C9D3F0">
              <a:alpha val="750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Oval 63"/>
          <p:cNvSpPr/>
          <p:nvPr/>
        </p:nvSpPr>
        <p:spPr>
          <a:xfrm>
            <a:off x="9380301" y="3894781"/>
            <a:ext cx="59221" cy="59221"/>
          </a:xfrm>
          <a:prstGeom prst="ellipse">
            <a:avLst/>
          </a:prstGeom>
          <a:solidFill>
            <a:srgbClr val="C9D3F0">
              <a:alpha val="747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479271" y="3407050"/>
            <a:ext cx="63499" cy="63499"/>
          </a:xfrm>
          <a:prstGeom prst="ellipse">
            <a:avLst/>
          </a:prstGeom>
          <a:solidFill>
            <a:srgbClr val="C9D3F0">
              <a:alpha val="542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Oval 65"/>
          <p:cNvSpPr/>
          <p:nvPr/>
        </p:nvSpPr>
        <p:spPr>
          <a:xfrm>
            <a:off x="7365676" y="3038084"/>
            <a:ext cx="70084" cy="70084"/>
          </a:xfrm>
          <a:prstGeom prst="ellipse">
            <a:avLst/>
          </a:prstGeom>
          <a:solidFill>
            <a:srgbClr val="C9D3F0">
              <a:alpha val="3507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950593" y="1463146"/>
            <a:ext cx="36827" cy="36827"/>
          </a:xfrm>
          <a:prstGeom prst="ellipse">
            <a:avLst/>
          </a:prstGeom>
          <a:solidFill>
            <a:srgbClr val="C9D3F0">
              <a:alpha val="510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Oval 67"/>
          <p:cNvSpPr/>
          <p:nvPr/>
        </p:nvSpPr>
        <p:spPr>
          <a:xfrm>
            <a:off x="9817909" y="2353210"/>
            <a:ext cx="82994" cy="82994"/>
          </a:xfrm>
          <a:prstGeom prst="ellipse">
            <a:avLst/>
          </a:prstGeom>
          <a:solidFill>
            <a:srgbClr val="C9D3F0">
              <a:alpha val="535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864829" y="1051807"/>
            <a:ext cx="72128" cy="72128"/>
          </a:xfrm>
          <a:prstGeom prst="ellipse">
            <a:avLst/>
          </a:prstGeom>
          <a:solidFill>
            <a:srgbClr val="C9D3F0">
              <a:alpha val="558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Oval 69"/>
          <p:cNvSpPr/>
          <p:nvPr/>
        </p:nvSpPr>
        <p:spPr>
          <a:xfrm>
            <a:off x="8555024" y="5020970"/>
            <a:ext cx="52481" cy="52481"/>
          </a:xfrm>
          <a:prstGeom prst="ellipse">
            <a:avLst/>
          </a:prstGeom>
          <a:solidFill>
            <a:srgbClr val="C9D3F0">
              <a:alpha val="529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753623" y="5844398"/>
            <a:ext cx="72531" cy="72531"/>
          </a:xfrm>
          <a:prstGeom prst="ellipse">
            <a:avLst/>
          </a:prstGeom>
          <a:solidFill>
            <a:srgbClr val="C9D3F0">
              <a:alpha val="4937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Oval 71"/>
          <p:cNvSpPr/>
          <p:nvPr/>
        </p:nvSpPr>
        <p:spPr>
          <a:xfrm>
            <a:off x="9588697" y="3463391"/>
            <a:ext cx="75782" cy="75782"/>
          </a:xfrm>
          <a:prstGeom prst="ellipse">
            <a:avLst/>
          </a:prstGeom>
          <a:solidFill>
            <a:srgbClr val="C9D3F0">
              <a:alpha val="631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Oval 72"/>
          <p:cNvSpPr/>
          <p:nvPr/>
        </p:nvSpPr>
        <p:spPr>
          <a:xfrm>
            <a:off x="9720616" y="3265691"/>
            <a:ext cx="65529" cy="65529"/>
          </a:xfrm>
          <a:prstGeom prst="ellipse">
            <a:avLst/>
          </a:prstGeom>
          <a:solidFill>
            <a:srgbClr val="C9D3F0">
              <a:alpha val="767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Oval 73"/>
          <p:cNvSpPr/>
          <p:nvPr/>
        </p:nvSpPr>
        <p:spPr>
          <a:xfrm>
            <a:off x="11282054" y="6016478"/>
            <a:ext cx="81331" cy="81331"/>
          </a:xfrm>
          <a:prstGeom prst="ellipse">
            <a:avLst/>
          </a:prstGeom>
          <a:solidFill>
            <a:srgbClr val="C9D3F0">
              <a:alpha val="392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Oval 74"/>
          <p:cNvSpPr/>
          <p:nvPr/>
        </p:nvSpPr>
        <p:spPr>
          <a:xfrm>
            <a:off x="11591622" y="5413628"/>
            <a:ext cx="72389" cy="72389"/>
          </a:xfrm>
          <a:prstGeom prst="ellipse">
            <a:avLst/>
          </a:prstGeom>
          <a:solidFill>
            <a:srgbClr val="C9D3F0">
              <a:alpha val="325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Oval 75"/>
          <p:cNvSpPr/>
          <p:nvPr/>
        </p:nvSpPr>
        <p:spPr>
          <a:xfrm>
            <a:off x="9314383" y="866204"/>
            <a:ext cx="44360" cy="44360"/>
          </a:xfrm>
          <a:prstGeom prst="ellipse">
            <a:avLst/>
          </a:prstGeom>
          <a:solidFill>
            <a:srgbClr val="C9D3F0">
              <a:alpha val="382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Oval 76"/>
          <p:cNvSpPr/>
          <p:nvPr/>
        </p:nvSpPr>
        <p:spPr>
          <a:xfrm>
            <a:off x="10355398" y="5095973"/>
            <a:ext cx="41256" cy="41256"/>
          </a:xfrm>
          <a:prstGeom prst="ellipse">
            <a:avLst/>
          </a:prstGeom>
          <a:solidFill>
            <a:srgbClr val="C9D3F0">
              <a:alpha val="743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Oval 77"/>
          <p:cNvSpPr/>
          <p:nvPr/>
        </p:nvSpPr>
        <p:spPr>
          <a:xfrm>
            <a:off x="10566069" y="4358269"/>
            <a:ext cx="46461" cy="46461"/>
          </a:xfrm>
          <a:prstGeom prst="ellipse">
            <a:avLst/>
          </a:prstGeom>
          <a:solidFill>
            <a:srgbClr val="C9D3F0">
              <a:alpha val="3286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Oval 78"/>
          <p:cNvSpPr/>
          <p:nvPr/>
        </p:nvSpPr>
        <p:spPr>
          <a:xfrm>
            <a:off x="11692272" y="1715800"/>
            <a:ext cx="93084" cy="93084"/>
          </a:xfrm>
          <a:prstGeom prst="ellipse">
            <a:avLst/>
          </a:prstGeom>
          <a:solidFill>
            <a:srgbClr val="C9D3F0">
              <a:alpha val="7738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Oval 79"/>
          <p:cNvSpPr/>
          <p:nvPr/>
        </p:nvSpPr>
        <p:spPr>
          <a:xfrm>
            <a:off x="9511922" y="6309566"/>
            <a:ext cx="62067" cy="62067"/>
          </a:xfrm>
          <a:prstGeom prst="ellipse">
            <a:avLst/>
          </a:prstGeom>
          <a:solidFill>
            <a:srgbClr val="C9D3F0">
              <a:alpha val="707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Oval 80"/>
          <p:cNvSpPr/>
          <p:nvPr/>
        </p:nvSpPr>
        <p:spPr>
          <a:xfrm>
            <a:off x="9264662" y="3498294"/>
            <a:ext cx="46911" cy="46911"/>
          </a:xfrm>
          <a:prstGeom prst="ellipse">
            <a:avLst/>
          </a:prstGeom>
          <a:solidFill>
            <a:srgbClr val="C9D3F0">
              <a:alpha val="4365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Oval 81"/>
          <p:cNvSpPr/>
          <p:nvPr/>
        </p:nvSpPr>
        <p:spPr>
          <a:xfrm>
            <a:off x="8746946" y="4724823"/>
            <a:ext cx="49105" cy="49105"/>
          </a:xfrm>
          <a:prstGeom prst="ellipse">
            <a:avLst/>
          </a:prstGeom>
          <a:solidFill>
            <a:srgbClr val="C9D3F0">
              <a:alpha val="260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Oval 82"/>
          <p:cNvSpPr/>
          <p:nvPr/>
        </p:nvSpPr>
        <p:spPr>
          <a:xfrm>
            <a:off x="9292954" y="528652"/>
            <a:ext cx="72039" cy="72039"/>
          </a:xfrm>
          <a:prstGeom prst="ellipse">
            <a:avLst/>
          </a:prstGeom>
          <a:solidFill>
            <a:srgbClr val="C9D3F0">
              <a:alpha val="432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Oval 83"/>
          <p:cNvSpPr/>
          <p:nvPr/>
        </p:nvSpPr>
        <p:spPr>
          <a:xfrm>
            <a:off x="9619007" y="801062"/>
            <a:ext cx="76512" cy="76512"/>
          </a:xfrm>
          <a:prstGeom prst="ellipse">
            <a:avLst/>
          </a:prstGeom>
          <a:solidFill>
            <a:srgbClr val="C9D3F0">
              <a:alpha val="7917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714275" y="1036449"/>
            <a:ext cx="87037" cy="87037"/>
          </a:xfrm>
          <a:prstGeom prst="ellipse">
            <a:avLst/>
          </a:prstGeom>
          <a:solidFill>
            <a:srgbClr val="C9D3F0">
              <a:alpha val="3960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Oval 85"/>
          <p:cNvSpPr/>
          <p:nvPr/>
        </p:nvSpPr>
        <p:spPr>
          <a:xfrm>
            <a:off x="10857221" y="2045068"/>
            <a:ext cx="39109" cy="39109"/>
          </a:xfrm>
          <a:prstGeom prst="ellipse">
            <a:avLst/>
          </a:prstGeom>
          <a:solidFill>
            <a:srgbClr val="C9D3F0">
              <a:alpha val="321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Oval 86"/>
          <p:cNvSpPr/>
          <p:nvPr/>
        </p:nvSpPr>
        <p:spPr>
          <a:xfrm>
            <a:off x="11450382" y="5293081"/>
            <a:ext cx="63603" cy="63603"/>
          </a:xfrm>
          <a:prstGeom prst="ellipse">
            <a:avLst/>
          </a:prstGeom>
          <a:solidFill>
            <a:srgbClr val="C9D3F0">
              <a:alpha val="392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Oval 87"/>
          <p:cNvSpPr/>
          <p:nvPr/>
        </p:nvSpPr>
        <p:spPr>
          <a:xfrm>
            <a:off x="11494583" y="3825519"/>
            <a:ext cx="46136" cy="46136"/>
          </a:xfrm>
          <a:prstGeom prst="ellipse">
            <a:avLst/>
          </a:prstGeom>
          <a:solidFill>
            <a:srgbClr val="C9D3F0">
              <a:alpha val="635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Oval 88"/>
          <p:cNvSpPr/>
          <p:nvPr/>
        </p:nvSpPr>
        <p:spPr>
          <a:xfrm>
            <a:off x="7557060" y="4526467"/>
            <a:ext cx="42302" cy="42302"/>
          </a:xfrm>
          <a:prstGeom prst="ellipse">
            <a:avLst/>
          </a:prstGeom>
          <a:solidFill>
            <a:srgbClr val="C9D3F0">
              <a:alpha val="4839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Oval 89"/>
          <p:cNvSpPr/>
          <p:nvPr/>
        </p:nvSpPr>
        <p:spPr>
          <a:xfrm>
            <a:off x="11584729" y="4207449"/>
            <a:ext cx="41211" cy="41211"/>
          </a:xfrm>
          <a:prstGeom prst="ellipse">
            <a:avLst/>
          </a:prstGeom>
          <a:solidFill>
            <a:srgbClr val="C9D3F0">
              <a:alpha val="6908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Oval 90"/>
          <p:cNvSpPr/>
          <p:nvPr/>
        </p:nvSpPr>
        <p:spPr>
          <a:xfrm>
            <a:off x="11208909" y="832209"/>
            <a:ext cx="41936" cy="41936"/>
          </a:xfrm>
          <a:prstGeom prst="ellipse">
            <a:avLst/>
          </a:prstGeom>
          <a:solidFill>
            <a:srgbClr val="C9D3F0">
              <a:alpha val="7245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Oval 91"/>
          <p:cNvSpPr/>
          <p:nvPr/>
        </p:nvSpPr>
        <p:spPr>
          <a:xfrm>
            <a:off x="8832991" y="3711581"/>
            <a:ext cx="65621" cy="65621"/>
          </a:xfrm>
          <a:prstGeom prst="ellipse">
            <a:avLst/>
          </a:prstGeom>
          <a:solidFill>
            <a:srgbClr val="C9D3F0">
              <a:alpha val="759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Oval 92"/>
          <p:cNvSpPr/>
          <p:nvPr/>
        </p:nvSpPr>
        <p:spPr>
          <a:xfrm>
            <a:off x="9524388" y="4803805"/>
            <a:ext cx="53490" cy="53490"/>
          </a:xfrm>
          <a:prstGeom prst="ellipse">
            <a:avLst/>
          </a:prstGeom>
          <a:solidFill>
            <a:srgbClr val="6FD0F7">
              <a:alpha val="662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Oval 93"/>
          <p:cNvSpPr/>
          <p:nvPr/>
        </p:nvSpPr>
        <p:spPr>
          <a:xfrm>
            <a:off x="8486416" y="2673286"/>
            <a:ext cx="37178" cy="37178"/>
          </a:xfrm>
          <a:prstGeom prst="ellipse">
            <a:avLst/>
          </a:prstGeom>
          <a:solidFill>
            <a:srgbClr val="6FD0F7">
              <a:alpha val="8024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Oval 94"/>
          <p:cNvSpPr/>
          <p:nvPr/>
        </p:nvSpPr>
        <p:spPr>
          <a:xfrm>
            <a:off x="9291616" y="4553479"/>
            <a:ext cx="82096" cy="82096"/>
          </a:xfrm>
          <a:prstGeom prst="ellipse">
            <a:avLst/>
          </a:prstGeom>
          <a:solidFill>
            <a:srgbClr val="6FD0F7">
              <a:alpha val="5821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Oval 95"/>
          <p:cNvSpPr/>
          <p:nvPr/>
        </p:nvSpPr>
        <p:spPr>
          <a:xfrm>
            <a:off x="10259727" y="2237409"/>
            <a:ext cx="65794" cy="65794"/>
          </a:xfrm>
          <a:prstGeom prst="ellipse">
            <a:avLst/>
          </a:prstGeom>
          <a:solidFill>
            <a:srgbClr val="6FD0F7">
              <a:alpha val="390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Oval 96"/>
          <p:cNvSpPr/>
          <p:nvPr/>
        </p:nvSpPr>
        <p:spPr>
          <a:xfrm>
            <a:off x="8019026" y="2158934"/>
            <a:ext cx="60495" cy="60495"/>
          </a:xfrm>
          <a:prstGeom prst="ellipse">
            <a:avLst/>
          </a:prstGeom>
          <a:solidFill>
            <a:srgbClr val="6FD0F7">
              <a:alpha val="7447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Oval 97"/>
          <p:cNvSpPr/>
          <p:nvPr/>
        </p:nvSpPr>
        <p:spPr>
          <a:xfrm>
            <a:off x="8768339" y="2480549"/>
            <a:ext cx="71242" cy="71242"/>
          </a:xfrm>
          <a:prstGeom prst="ellipse">
            <a:avLst/>
          </a:prstGeom>
          <a:solidFill>
            <a:srgbClr val="6FD0F7">
              <a:alpha val="6546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Oval 98"/>
          <p:cNvSpPr/>
          <p:nvPr/>
        </p:nvSpPr>
        <p:spPr>
          <a:xfrm>
            <a:off x="8980085" y="4350296"/>
            <a:ext cx="76147" cy="76147"/>
          </a:xfrm>
          <a:prstGeom prst="ellipse">
            <a:avLst/>
          </a:prstGeom>
          <a:solidFill>
            <a:srgbClr val="6FD0F7">
              <a:alpha val="583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Oval 99"/>
          <p:cNvSpPr/>
          <p:nvPr/>
        </p:nvSpPr>
        <p:spPr>
          <a:xfrm>
            <a:off x="8978944" y="1763660"/>
            <a:ext cx="69225" cy="69225"/>
          </a:xfrm>
          <a:prstGeom prst="ellipse">
            <a:avLst/>
          </a:prstGeom>
          <a:solidFill>
            <a:srgbClr val="6FD0F7">
              <a:alpha val="8526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7807236" y="4383254"/>
            <a:ext cx="56904" cy="56904"/>
          </a:xfrm>
          <a:prstGeom prst="ellipse">
            <a:avLst/>
          </a:prstGeom>
          <a:solidFill>
            <a:srgbClr val="6FD0F7">
              <a:alpha val="861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0358352" y="2674714"/>
            <a:ext cx="42792" cy="42792"/>
          </a:xfrm>
          <a:prstGeom prst="ellipse">
            <a:avLst/>
          </a:prstGeom>
          <a:solidFill>
            <a:srgbClr val="6FD0F7">
              <a:alpha val="430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1000116" y="3111542"/>
            <a:ext cx="65226" cy="65226"/>
          </a:xfrm>
          <a:prstGeom prst="ellipse">
            <a:avLst/>
          </a:prstGeom>
          <a:solidFill>
            <a:srgbClr val="6FD0F7">
              <a:alpha val="4806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7788747" y="3344400"/>
            <a:ext cx="52619" cy="52619"/>
          </a:xfrm>
          <a:prstGeom prst="ellipse">
            <a:avLst/>
          </a:prstGeom>
          <a:solidFill>
            <a:srgbClr val="6FD0F7">
              <a:alpha val="6510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7569534" y="2545853"/>
            <a:ext cx="67756" cy="67756"/>
          </a:xfrm>
          <a:prstGeom prst="ellipse">
            <a:avLst/>
          </a:prstGeom>
          <a:solidFill>
            <a:srgbClr val="6FD0F7">
              <a:alpha val="857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0739320" y="2022914"/>
            <a:ext cx="67266" cy="67266"/>
          </a:xfrm>
          <a:prstGeom prst="ellipse">
            <a:avLst/>
          </a:prstGeom>
          <a:solidFill>
            <a:srgbClr val="6FD0F7">
              <a:alpha val="397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0762964" y="2062459"/>
            <a:ext cx="77938" cy="77938"/>
          </a:xfrm>
          <a:prstGeom prst="ellipse">
            <a:avLst/>
          </a:prstGeom>
          <a:solidFill>
            <a:srgbClr val="6FD0F7">
              <a:alpha val="6414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9056916" y="2271603"/>
            <a:ext cx="74597" cy="74597"/>
          </a:xfrm>
          <a:prstGeom prst="ellipse">
            <a:avLst/>
          </a:prstGeom>
          <a:solidFill>
            <a:srgbClr val="6FD0F7">
              <a:alpha val="6441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9098339" y="4402601"/>
            <a:ext cx="75618" cy="75618"/>
          </a:xfrm>
          <a:prstGeom prst="ellipse">
            <a:avLst/>
          </a:prstGeom>
          <a:solidFill>
            <a:srgbClr val="6FD0F7">
              <a:alpha val="8938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1091866" y="4247326"/>
            <a:ext cx="55342" cy="55342"/>
          </a:xfrm>
          <a:prstGeom prst="ellipse">
            <a:avLst/>
          </a:prstGeom>
          <a:solidFill>
            <a:srgbClr val="6FD0F7">
              <a:alpha val="390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8843063" y="4909213"/>
            <a:ext cx="76478" cy="76478"/>
          </a:xfrm>
          <a:prstGeom prst="ellipse">
            <a:avLst/>
          </a:prstGeom>
          <a:solidFill>
            <a:srgbClr val="6FD0F7">
              <a:alpha val="3265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8422702" y="2720723"/>
            <a:ext cx="69423" cy="69423"/>
          </a:xfrm>
          <a:prstGeom prst="ellipse">
            <a:avLst/>
          </a:prstGeom>
          <a:solidFill>
            <a:srgbClr val="6FD0F7">
              <a:alpha val="498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0982895" y="2214545"/>
            <a:ext cx="59683" cy="59683"/>
          </a:xfrm>
          <a:prstGeom prst="ellipse">
            <a:avLst/>
          </a:prstGeom>
          <a:solidFill>
            <a:srgbClr val="6FD0F7">
              <a:alpha val="899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8907281" y="4370991"/>
            <a:ext cx="63997" cy="63997"/>
          </a:xfrm>
          <a:prstGeom prst="ellipse">
            <a:avLst/>
          </a:prstGeom>
          <a:solidFill>
            <a:srgbClr val="6FD0F7">
              <a:alpha val="318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9913970" y="4627185"/>
            <a:ext cx="64486" cy="64486"/>
          </a:xfrm>
          <a:prstGeom prst="ellipse">
            <a:avLst/>
          </a:prstGeom>
          <a:solidFill>
            <a:srgbClr val="6FD0F7">
              <a:alpha val="393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1387412" y="3839351"/>
            <a:ext cx="50924" cy="50924"/>
          </a:xfrm>
          <a:prstGeom prst="ellipse">
            <a:avLst/>
          </a:prstGeom>
          <a:solidFill>
            <a:srgbClr val="6FD0F7">
              <a:alpha val="875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0661492" y="2627458"/>
            <a:ext cx="57625" cy="57625"/>
          </a:xfrm>
          <a:prstGeom prst="ellipse">
            <a:avLst/>
          </a:prstGeom>
          <a:solidFill>
            <a:srgbClr val="6FD0F7">
              <a:alpha val="6120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8270023" y="2262417"/>
            <a:ext cx="62145" cy="62145"/>
          </a:xfrm>
          <a:prstGeom prst="ellipse">
            <a:avLst/>
          </a:prstGeom>
          <a:solidFill>
            <a:srgbClr val="6FD0F7">
              <a:alpha val="6720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0992901" y="2898726"/>
            <a:ext cx="56290" cy="56290"/>
          </a:xfrm>
          <a:prstGeom prst="ellipse">
            <a:avLst/>
          </a:prstGeom>
          <a:solidFill>
            <a:srgbClr val="6FD0F7">
              <a:alpha val="7321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9495986" y="4603494"/>
            <a:ext cx="81280" cy="81280"/>
          </a:xfrm>
          <a:prstGeom prst="ellipse">
            <a:avLst/>
          </a:prstGeom>
          <a:solidFill>
            <a:srgbClr val="6FD0F7">
              <a:alpha val="612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8202280" y="3102786"/>
            <a:ext cx="55559" cy="55559"/>
          </a:xfrm>
          <a:prstGeom prst="ellipse">
            <a:avLst/>
          </a:prstGeom>
          <a:solidFill>
            <a:srgbClr val="6FD0F7">
              <a:alpha val="6479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1196788" y="3579791"/>
            <a:ext cx="65479" cy="65479"/>
          </a:xfrm>
          <a:prstGeom prst="ellipse">
            <a:avLst/>
          </a:prstGeom>
          <a:solidFill>
            <a:srgbClr val="6FD0F7">
              <a:alpha val="3360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8212565" y="2429861"/>
            <a:ext cx="67632" cy="67632"/>
          </a:xfrm>
          <a:prstGeom prst="ellipse">
            <a:avLst/>
          </a:prstGeom>
          <a:solidFill>
            <a:srgbClr val="6FD0F7">
              <a:alpha val="511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8880092" y="1912345"/>
            <a:ext cx="37590" cy="37590"/>
          </a:xfrm>
          <a:prstGeom prst="ellipse">
            <a:avLst/>
          </a:prstGeom>
          <a:solidFill>
            <a:srgbClr val="6FD0F7">
              <a:alpha val="336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8426088" y="1860891"/>
            <a:ext cx="48057" cy="48057"/>
          </a:xfrm>
          <a:prstGeom prst="ellipse">
            <a:avLst/>
          </a:prstGeom>
          <a:solidFill>
            <a:srgbClr val="6FD0F7">
              <a:alpha val="5737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8103967" y="2724248"/>
            <a:ext cx="53216" cy="53216"/>
          </a:xfrm>
          <a:prstGeom prst="ellipse">
            <a:avLst/>
          </a:prstGeom>
          <a:solidFill>
            <a:srgbClr val="6FD0F7">
              <a:alpha val="4876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8163769" y="4462549"/>
            <a:ext cx="50310" cy="50310"/>
          </a:xfrm>
          <a:prstGeom prst="ellipse">
            <a:avLst/>
          </a:prstGeom>
          <a:solidFill>
            <a:srgbClr val="6FD0F7">
              <a:alpha val="5262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9562639" y="2399305"/>
            <a:ext cx="62602" cy="62602"/>
          </a:xfrm>
          <a:prstGeom prst="ellipse">
            <a:avLst/>
          </a:prstGeom>
          <a:solidFill>
            <a:srgbClr val="6FD0F7">
              <a:alpha val="741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8848510" y="4469446"/>
            <a:ext cx="73326" cy="73326"/>
          </a:xfrm>
          <a:prstGeom prst="ellipse">
            <a:avLst/>
          </a:prstGeom>
          <a:solidFill>
            <a:srgbClr val="6FD0F7">
              <a:alpha val="4432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0017454" y="4615634"/>
            <a:ext cx="68491" cy="68491"/>
          </a:xfrm>
          <a:prstGeom prst="ellipse">
            <a:avLst/>
          </a:prstGeom>
          <a:solidFill>
            <a:srgbClr val="6FD0F7">
              <a:alpha val="361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8701695" y="4510582"/>
            <a:ext cx="74685" cy="74685"/>
          </a:xfrm>
          <a:prstGeom prst="ellipse">
            <a:avLst/>
          </a:prstGeom>
          <a:solidFill>
            <a:srgbClr val="6FD0F7">
              <a:alpha val="5630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0252081" y="2522153"/>
            <a:ext cx="51970" cy="51970"/>
          </a:xfrm>
          <a:prstGeom prst="ellipse">
            <a:avLst/>
          </a:prstGeom>
          <a:solidFill>
            <a:srgbClr val="6FD0F7">
              <a:alpha val="690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0644851" y="2522546"/>
            <a:ext cx="46864" cy="46864"/>
          </a:xfrm>
          <a:prstGeom prst="ellipse">
            <a:avLst/>
          </a:prstGeom>
          <a:solidFill>
            <a:srgbClr val="6FD0F7">
              <a:alpha val="3725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988421" y="3182474"/>
            <a:ext cx="73461" cy="73461"/>
          </a:xfrm>
          <a:prstGeom prst="ellipse">
            <a:avLst/>
          </a:prstGeom>
          <a:solidFill>
            <a:srgbClr val="6FD0F7">
              <a:alpha val="803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9990330" y="4490676"/>
            <a:ext cx="73482" cy="73482"/>
          </a:xfrm>
          <a:prstGeom prst="ellipse">
            <a:avLst/>
          </a:prstGeom>
          <a:solidFill>
            <a:srgbClr val="6FD0F7">
              <a:alpha val="685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9938923" y="2232373"/>
            <a:ext cx="42505" cy="42505"/>
          </a:xfrm>
          <a:prstGeom prst="ellipse">
            <a:avLst/>
          </a:prstGeom>
          <a:solidFill>
            <a:srgbClr val="6FD0F7">
              <a:alpha val="475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9798663" y="2252032"/>
            <a:ext cx="52411" cy="52411"/>
          </a:xfrm>
          <a:prstGeom prst="ellipse">
            <a:avLst/>
          </a:prstGeom>
          <a:solidFill>
            <a:srgbClr val="6FD0F7">
              <a:alpha val="550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953873" y="4018688"/>
            <a:ext cx="78666" cy="78666"/>
          </a:xfrm>
          <a:prstGeom prst="ellipse">
            <a:avLst/>
          </a:prstGeom>
          <a:solidFill>
            <a:srgbClr val="6FD0F7">
              <a:alpha val="3935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1519088" y="3440735"/>
            <a:ext cx="76808" cy="76808"/>
          </a:xfrm>
          <a:prstGeom prst="ellipse">
            <a:avLst/>
          </a:prstGeom>
          <a:solidFill>
            <a:srgbClr val="6FD0F7">
              <a:alpha val="892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7412235" y="4078095"/>
            <a:ext cx="78975" cy="78975"/>
          </a:xfrm>
          <a:prstGeom prst="ellipse">
            <a:avLst/>
          </a:prstGeom>
          <a:solidFill>
            <a:srgbClr val="6FD0F7">
              <a:alpha val="433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9327280" y="1765990"/>
            <a:ext cx="66887" cy="66887"/>
          </a:xfrm>
          <a:prstGeom prst="ellipse">
            <a:avLst/>
          </a:prstGeom>
          <a:solidFill>
            <a:srgbClr val="6FD0F7">
              <a:alpha val="611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9015597" y="4617646"/>
            <a:ext cx="46975" cy="46975"/>
          </a:xfrm>
          <a:prstGeom prst="ellipse">
            <a:avLst/>
          </a:prstGeom>
          <a:solidFill>
            <a:srgbClr val="6FD0F7">
              <a:alpha val="340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8099806" y="2753518"/>
            <a:ext cx="73617" cy="73617"/>
          </a:xfrm>
          <a:prstGeom prst="ellipse">
            <a:avLst/>
          </a:prstGeom>
          <a:solidFill>
            <a:srgbClr val="6FD0F7">
              <a:alpha val="3270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0941187" y="2523845"/>
            <a:ext cx="78814" cy="78814"/>
          </a:xfrm>
          <a:prstGeom prst="ellipse">
            <a:avLst/>
          </a:prstGeom>
          <a:solidFill>
            <a:srgbClr val="6FD0F7">
              <a:alpha val="8379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0844238" y="2566906"/>
            <a:ext cx="37176" cy="37176"/>
          </a:xfrm>
          <a:prstGeom prst="ellipse">
            <a:avLst/>
          </a:prstGeom>
          <a:solidFill>
            <a:srgbClr val="6FD0F7">
              <a:alpha val="7471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0103011" y="4469434"/>
            <a:ext cx="66883" cy="66883"/>
          </a:xfrm>
          <a:prstGeom prst="ellipse">
            <a:avLst/>
          </a:prstGeom>
          <a:solidFill>
            <a:srgbClr val="6FD0F7">
              <a:alpha val="6149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7556142" y="4278214"/>
            <a:ext cx="64564" cy="64564"/>
          </a:xfrm>
          <a:prstGeom prst="ellipse">
            <a:avLst/>
          </a:prstGeom>
          <a:solidFill>
            <a:srgbClr val="6FD0F7">
              <a:alpha val="5048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9357161" y="5048998"/>
            <a:ext cx="58393" cy="58393"/>
          </a:xfrm>
          <a:prstGeom prst="ellipse">
            <a:avLst/>
          </a:prstGeom>
          <a:solidFill>
            <a:srgbClr val="6FD0F7">
              <a:alpha val="7693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8537661" y="4312295"/>
            <a:ext cx="61019" cy="61019"/>
          </a:xfrm>
          <a:prstGeom prst="ellipse">
            <a:avLst/>
          </a:prstGeom>
          <a:solidFill>
            <a:srgbClr val="6FD0F7">
              <a:alpha val="790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0325559" y="4794122"/>
            <a:ext cx="78719" cy="78719"/>
          </a:xfrm>
          <a:prstGeom prst="ellipse">
            <a:avLst/>
          </a:prstGeom>
          <a:solidFill>
            <a:srgbClr val="6FD0F7">
              <a:alpha val="7836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9938727" y="2507008"/>
            <a:ext cx="65315" cy="65315"/>
          </a:xfrm>
          <a:prstGeom prst="ellipse">
            <a:avLst/>
          </a:prstGeom>
          <a:solidFill>
            <a:srgbClr val="6FD0F7">
              <a:alpha val="8175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0815936" y="3773662"/>
            <a:ext cx="48855" cy="48855"/>
          </a:xfrm>
          <a:prstGeom prst="ellipse">
            <a:avLst/>
          </a:prstGeom>
          <a:solidFill>
            <a:srgbClr val="6FD0F7">
              <a:alpha val="616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7786116" y="1796796"/>
            <a:ext cx="3264408" cy="3264408"/>
          </a:xfrm>
          <a:prstGeom prst="ellipse">
            <a:avLst/>
          </a:prstGeom>
          <a:solidFill>
            <a:srgbClr val="6FD0F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8170164" y="2180844"/>
            <a:ext cx="2496312" cy="2496312"/>
          </a:xfrm>
          <a:prstGeom prst="ellipse">
            <a:avLst/>
          </a:prstGeom>
          <a:solidFill>
            <a:srgbClr val="6FD0F7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8458200" y="2468880"/>
            <a:ext cx="1920240" cy="1920240"/>
          </a:xfrm>
          <a:prstGeom prst="ellipse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31520" y="182880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200" b="1" i="0">
                <a:solidFill>
                  <a:srgbClr val="F6B94B"/>
                </a:solidFill>
                <a:latin typeface="Malgun Gothic"/>
                <a:ea typeface="Malgun Gothic"/>
              </a:rPr>
              <a:t>짧은 능동형 증분 게임 · 기획 요약 · 2026-09-17 기준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31520" y="2194560"/>
            <a:ext cx="58521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ko-KR" sz="4800" b="1" i="0" dirty="0">
                <a:solidFill>
                  <a:srgbClr val="EEF1FA"/>
                </a:solidFill>
                <a:latin typeface="Malgun Gothic"/>
                <a:ea typeface="Malgun Gothic"/>
              </a:rPr>
              <a:t>먼지에서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ko-KR" sz="4800" b="1" i="0" dirty="0">
                <a:solidFill>
                  <a:srgbClr val="6FD0F7"/>
                </a:solidFill>
                <a:latin typeface="Malgun Gothic"/>
                <a:ea typeface="Malgun Gothic"/>
              </a:rPr>
              <a:t>행성으로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31520" y="3931920"/>
            <a:ext cx="69494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300" b="0" i="0">
                <a:solidFill>
                  <a:srgbClr val="C9D3F0"/>
                </a:solidFill>
                <a:latin typeface="Malgun Gothic"/>
                <a:ea typeface="Malgun Gothic"/>
              </a:rPr>
              <a:t>홀드로 만든 중력으로 우주 먼지를 끌어모아 행성을 만들고 판다.
스태미나가 다하면 런이 끝나고, 업그레이드해서 다음 런에 더 큰 행성을 만든다.
외부 아트 없이 파티클과 수식만으로 성장을 보여준다.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1520" y="530352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100" b="0" i="0" dirty="0">
                <a:solidFill>
                  <a:srgbClr val="9AA3C7"/>
                </a:solidFill>
                <a:latin typeface="Malgun Gothic"/>
                <a:ea typeface="Malgun Gothic"/>
              </a:rPr>
              <a:t>1인 개발  ·  </a:t>
            </a:r>
            <a:r>
              <a:rPr lang="ko-KR" sz="1100" b="0" i="0" dirty="0" err="1">
                <a:solidFill>
                  <a:srgbClr val="9AA3C7"/>
                </a:solidFill>
                <a:latin typeface="Malgun Gothic"/>
                <a:ea typeface="Malgun Gothic"/>
              </a:rPr>
              <a:t>Unity</a:t>
            </a:r>
            <a:r>
              <a:rPr lang="ko-KR" sz="1100" b="0" i="0" dirty="0">
                <a:solidFill>
                  <a:srgbClr val="9AA3C7"/>
                </a:solidFill>
                <a:latin typeface="Malgun Gothic"/>
                <a:ea typeface="Malgun Gothic"/>
              </a:rPr>
              <a:t> 6 (2D URP)  ·  PC / </a:t>
            </a:r>
            <a:r>
              <a:rPr lang="ko-KR" sz="1100" b="0" i="0" dirty="0" err="1">
                <a:solidFill>
                  <a:srgbClr val="9AA3C7"/>
                </a:solidFill>
                <a:latin typeface="Malgun Gothic"/>
                <a:ea typeface="Malgun Gothic"/>
              </a:rPr>
              <a:t>Steam</a:t>
            </a:r>
            <a:r>
              <a:rPr lang="ko-KR" sz="1100" b="0" i="0" dirty="0">
                <a:solidFill>
                  <a:srgbClr val="9AA3C7"/>
                </a:solidFill>
                <a:latin typeface="Malgun Gothic"/>
                <a:ea typeface="Malgun Gothic"/>
              </a:rPr>
              <a:t>  ·  상태: 확정, 개발 착수 가능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E4892D4-E518-6656-E797-3C0A1E29C078}"/>
              </a:ext>
            </a:extLst>
          </p:cNvPr>
          <p:cNvSpPr txBox="1"/>
          <p:nvPr/>
        </p:nvSpPr>
        <p:spPr>
          <a:xfrm>
            <a:off x="731520" y="3649356"/>
            <a:ext cx="85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가제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00 · 프로젝트 개요 (확정)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3000" b="1" i="0">
                <a:solidFill>
                  <a:srgbClr val="EEF1FA"/>
                </a:solidFill>
                <a:latin typeface="Malgun Gothic"/>
                <a:ea typeface="Malgun Gothic"/>
              </a:rPr>
              <a:t>무엇을 만드는가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923543" y="1746503"/>
            <a:ext cx="256032" cy="256032"/>
          </a:xfrm>
          <a:prstGeom prst="ellipse">
            <a:avLst/>
          </a:prstGeom>
          <a:solidFill>
            <a:srgbClr val="F6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664208"/>
            <a:ext cx="4343400" cy="150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350" b="0" i="0">
                <a:solidFill>
                  <a:srgbClr val="EEF1FA"/>
                </a:solidFill>
                <a:latin typeface="Malgun Gothic"/>
                <a:ea typeface="Malgun Gothic"/>
              </a:rPr>
              <a:t>우주를 떠도는 먼지를 홀드로 만든 중력으로 끌어모아 행성을 만들고 판다. 스태미나가 다하면 런이 끝나고, 업그레이드해서 다음 런에 더 큰 행성을 만든다. 외부 아트 없이 파티클과 수식만으로 성장을 보여주는 짧은 능동형 증분 게임.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3000" b="1" i="0">
                <a:solidFill>
                  <a:srgbClr val="F6B94B"/>
                </a:solidFill>
                <a:latin typeface="Malgun Gothic"/>
                <a:ea typeface="Malgun Gothic"/>
              </a:rPr>
              <a:t>2~4h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00" b="0" i="0">
                <a:solidFill>
                  <a:srgbClr val="9AA3C7"/>
                </a:solidFill>
                <a:latin typeface="Malgun Gothic"/>
                <a:ea typeface="Malgun Gothic"/>
              </a:rPr>
              <a:t>엔딩까지 플레이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47472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3000" b="1" i="0">
                <a:solidFill>
                  <a:srgbClr val="F6B94B"/>
                </a:solidFill>
                <a:latin typeface="Malgun Gothic"/>
                <a:ea typeface="Malgun Gothic"/>
              </a:rPr>
              <a:t>40~70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411480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00" b="0" i="0">
                <a:solidFill>
                  <a:srgbClr val="9AA3C7"/>
                </a:solidFill>
                <a:latin typeface="Malgun Gothic"/>
                <a:ea typeface="Malgun Gothic"/>
              </a:rPr>
              <a:t>런 (초반 1분 → 후반 5~10분)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95604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200" b="1" i="0">
                <a:solidFill>
                  <a:srgbClr val="6FD0F7"/>
                </a:solidFill>
                <a:latin typeface="Malgun Gothic"/>
                <a:ea typeface="Malgun Gothic"/>
              </a:rPr>
              <a:t>레퍼런스 규모 (2026-09-17 확인)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66944"/>
            <a:ext cx="475488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ko-KR" sz="1050" b="1" i="0">
                <a:solidFill>
                  <a:srgbClr val="EEF1FA"/>
                </a:solidFill>
                <a:latin typeface="Malgun Gothic"/>
                <a:ea typeface="Malgun Gothic"/>
              </a:rPr>
              <a:t>You Know The Drill  </a:t>
            </a: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약 3~4시간 · $3.99 · 92% (1,021개) · 연속형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ko-KR" sz="1050" b="1" i="0">
                <a:solidFill>
                  <a:srgbClr val="EEF1FA"/>
                </a:solidFill>
                <a:latin typeface="Malgun Gothic"/>
                <a:ea typeface="Malgun Gothic"/>
              </a:rPr>
              <a:t>Bills Must Be Paid  </a:t>
            </a: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약 3시간 · $6.99 · 96% (3,019개) · 런 기반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ko-KR" sz="1050" b="0" i="0">
                <a:solidFill>
                  <a:srgbClr val="C9D3F0"/>
                </a:solidFill>
                <a:latin typeface="Malgun Gothic"/>
                <a:ea typeface="Malgun Gothic"/>
              </a:rPr>
              <a:t>둘 다 Steam 데모가 있다. 이 장르에서 데모는 관례.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600" b="1" i="0">
                <a:solidFill>
                  <a:srgbClr val="6FD0F7"/>
                </a:solidFill>
                <a:latin typeface="Malgun Gothic"/>
                <a:ea typeface="Malgun Gothic"/>
              </a:rPr>
              <a:t>확정 사항</a:t>
            </a:r>
          </a:p>
        </p:txBody>
      </p:sp>
      <p:sp>
        <p:nvSpPr>
          <p:cNvPr id="20" name="Oval 19"/>
          <p:cNvSpPr/>
          <p:nvPr/>
        </p:nvSpPr>
        <p:spPr>
          <a:xfrm>
            <a:off x="6345936" y="1975104"/>
            <a:ext cx="384048" cy="384048"/>
          </a:xfrm>
          <a:prstGeom prst="ellipse">
            <a:avLst/>
          </a:prstGeom>
          <a:solidFill>
            <a:srgbClr val="F6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19751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0B1026"/>
                </a:solidFill>
                <a:latin typeface="Malgun Gothic"/>
                <a:ea typeface="Malgun Gothic"/>
              </a:rPr>
              <a:t>E7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9202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구조: 런 기반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203704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홀드가 스태미나를 소모하고, 소진되면 런 종료 → 상점 → 다음 런</a:t>
            </a:r>
          </a:p>
        </p:txBody>
      </p:sp>
      <p:sp>
        <p:nvSpPr>
          <p:cNvPr id="24" name="Oval 23"/>
          <p:cNvSpPr/>
          <p:nvPr/>
        </p:nvSpPr>
        <p:spPr>
          <a:xfrm>
            <a:off x="6345936" y="2706624"/>
            <a:ext cx="384048" cy="384048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45936" y="27066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0B1026"/>
                </a:solidFill>
                <a:latin typeface="Malgun Gothic"/>
                <a:ea typeface="Malgun Gothic"/>
              </a:rPr>
              <a:t>D1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6517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테마: 우주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935224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먼지 → 중력 → 행성. 파티클이 기본 자원</a:t>
            </a:r>
          </a:p>
        </p:txBody>
      </p:sp>
      <p:sp>
        <p:nvSpPr>
          <p:cNvPr id="28" name="Oval 27"/>
          <p:cNvSpPr/>
          <p:nvPr/>
        </p:nvSpPr>
        <p:spPr>
          <a:xfrm>
            <a:off x="6345936" y="3438144"/>
            <a:ext cx="384048" cy="384048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45936" y="34381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0B1026"/>
                </a:solidFill>
                <a:latin typeface="Malgun Gothic"/>
                <a:ea typeface="Malgun Gothic"/>
              </a:rPr>
              <a:t>D2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3832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핵심 행동: 마우스 홀드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666744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홀드한 지점에 중력. 런 중에는 홀드만 한다</a:t>
            </a:r>
          </a:p>
        </p:txBody>
      </p:sp>
      <p:sp>
        <p:nvSpPr>
          <p:cNvPr id="32" name="Oval 31"/>
          <p:cNvSpPr/>
          <p:nvPr/>
        </p:nvSpPr>
        <p:spPr>
          <a:xfrm>
            <a:off x="6345936" y="4169663"/>
            <a:ext cx="384048" cy="384048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45936" y="416966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0B1026"/>
                </a:solidFill>
                <a:latin typeface="Malgun Gothic"/>
                <a:ea typeface="Malgun Gothic"/>
              </a:rPr>
              <a:t>D4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1148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엔딩 있음 + 엔들리스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398264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티어 11 청색 거성 → 초신성 → 크레딧 → 같은 세이브로 계속</a:t>
            </a:r>
          </a:p>
        </p:txBody>
      </p:sp>
      <p:sp>
        <p:nvSpPr>
          <p:cNvPr id="36" name="Oval 35"/>
          <p:cNvSpPr/>
          <p:nvPr/>
        </p:nvSpPr>
        <p:spPr>
          <a:xfrm>
            <a:off x="6345936" y="4901184"/>
            <a:ext cx="384048" cy="384048"/>
          </a:xfrm>
          <a:prstGeom prst="ellipse">
            <a:avLst/>
          </a:prstGeom>
          <a:solidFill>
            <a:srgbClr val="C9D3F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6473952" y="5029200"/>
            <a:ext cx="128016" cy="128016"/>
          </a:xfrm>
          <a:prstGeom prst="ellipse">
            <a:avLst/>
          </a:prstGeom>
          <a:solidFill>
            <a:srgbClr val="C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03720" y="48463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장르: 짧은 능동형 증분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129784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완전 방치형이 아니다. 매 런의 결과 화면에서 성장을 체감</a:t>
            </a:r>
          </a:p>
        </p:txBody>
      </p:sp>
      <p:sp>
        <p:nvSpPr>
          <p:cNvPr id="40" name="Oval 39"/>
          <p:cNvSpPr/>
          <p:nvPr/>
        </p:nvSpPr>
        <p:spPr>
          <a:xfrm>
            <a:off x="6345936" y="5632703"/>
            <a:ext cx="384048" cy="384048"/>
          </a:xfrm>
          <a:prstGeom prst="ellipse">
            <a:avLst/>
          </a:prstGeom>
          <a:solidFill>
            <a:srgbClr val="C9D3F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73952" y="5760719"/>
            <a:ext cx="128016" cy="128016"/>
          </a:xfrm>
          <a:prstGeom prst="ellipse">
            <a:avLst/>
          </a:prstGeom>
          <a:solidFill>
            <a:srgbClr val="C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03720" y="55778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그래픽 · 엔진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5861303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외부 아트 없음, 절차적 비주얼. Unity 6000.0.66f2, 2D URP, Input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900" b="0" i="0">
                <a:solidFill>
                  <a:srgbClr val="9AA3C7"/>
                </a:solidFill>
                <a:latin typeface="Malgun Gothic"/>
                <a:ea typeface="Malgun Gothic"/>
              </a:rPr>
              <a:t>기획 요약 · 2026-09-17 기준 · 상태: 확정 (개발 착수 가능)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ko-KR" sz="900" b="0" i="0">
                <a:solidFill>
                  <a:srgbClr val="9AA3C7"/>
                </a:solidFill>
                <a:latin typeface="Malgun Gothic"/>
                <a:ea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10 · 핵심 루프 (확정 · E7, 2026-09-17)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3000" b="1" i="0">
                <a:solidFill>
                  <a:srgbClr val="EEF1FA"/>
                </a:solidFill>
                <a:latin typeface="Malgun Gothic"/>
                <a:ea typeface="Malgun Gothic"/>
              </a:rPr>
              <a:t>핵심 루프: 런 기반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14500"/>
            <a:ext cx="1051560" cy="1051560"/>
          </a:xfrm>
          <a:prstGeom prst="ellipse">
            <a:avLst/>
          </a:prstGeom>
          <a:solidFill>
            <a:srgbClr val="C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145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2600" b="1" i="0">
                <a:solidFill>
                  <a:srgbClr val="0B1026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7" y="2926080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런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" y="3291840"/>
            <a:ext cx="179222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스태미나 가득. 먼지 초기 배치. 질량 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6504" y="2240280"/>
            <a:ext cx="810707" cy="0"/>
          </a:xfrm>
          <a:prstGeom prst="line">
            <a:avLst/>
          </a:prstGeom>
          <a:ln w="19050">
            <a:solidFill>
              <a:srgbClr val="9AA3C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612075" y="1714500"/>
            <a:ext cx="1051560" cy="1051560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12075" y="17145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2600" b="1" i="0">
                <a:solidFill>
                  <a:srgbClr val="0B1026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1743" y="2926080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홀드 → 중력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1743" y="3291840"/>
            <a:ext cx="179222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커서를 따라 움직인다. 홀드 중 스태미나가 닳는다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18499" y="2240280"/>
            <a:ext cx="810707" cy="0"/>
          </a:xfrm>
          <a:prstGeom prst="line">
            <a:avLst/>
          </a:prstGeom>
          <a:ln w="19050">
            <a:solidFill>
              <a:srgbClr val="9AA3C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584070" y="1714500"/>
            <a:ext cx="1051560" cy="1051560"/>
          </a:xfrm>
          <a:prstGeom prst="ellipse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4070" y="17145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2600" b="1" i="0">
                <a:solidFill>
                  <a:srgbClr val="0B1026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3738" y="2926080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놓으면 행성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3738" y="3291840"/>
            <a:ext cx="179222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넘은 임계 중 가장 높은 해금 티어. 즉시 런 수입 합산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90494" y="2240280"/>
            <a:ext cx="810707" cy="0"/>
          </a:xfrm>
          <a:prstGeom prst="line">
            <a:avLst/>
          </a:prstGeom>
          <a:ln w="19050">
            <a:solidFill>
              <a:srgbClr val="9AA3C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556065" y="1714500"/>
            <a:ext cx="1051560" cy="1051560"/>
          </a:xfrm>
          <a:prstGeom prst="ellipse">
            <a:avLst/>
          </a:prstGeom>
          <a:solidFill>
            <a:srgbClr val="F0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065" y="17145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2600" b="1" i="0">
                <a:solidFill>
                  <a:srgbClr val="0B1026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5733" y="2926080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스태미나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5733" y="3291840"/>
            <a:ext cx="179222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런 종료. 홀드 중이면 강제 생성 후 종료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62489" y="2240280"/>
            <a:ext cx="810707" cy="0"/>
          </a:xfrm>
          <a:prstGeom prst="line">
            <a:avLst/>
          </a:prstGeom>
          <a:ln w="19050">
            <a:solidFill>
              <a:srgbClr val="9AA3C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528060" y="1714500"/>
            <a:ext cx="1051560" cy="1051560"/>
          </a:xfrm>
          <a:prstGeom prst="ellipse">
            <a:avLst/>
          </a:prstGeom>
          <a:solidFill>
            <a:srgbClr val="F6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28060" y="17145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2600" b="1" i="0">
                <a:solidFill>
                  <a:srgbClr val="0B1026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7728" y="2926080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결과 화면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7728" y="3291840"/>
            <a:ext cx="179222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런 수입, 지난 런 대비 ×N, 최고 기록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34484" y="2240280"/>
            <a:ext cx="810707" cy="0"/>
          </a:xfrm>
          <a:prstGeom prst="line">
            <a:avLst/>
          </a:prstGeom>
          <a:ln w="19050">
            <a:solidFill>
              <a:srgbClr val="9AA3C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500055" y="1714500"/>
            <a:ext cx="1051560" cy="1051560"/>
          </a:xfrm>
          <a:prstGeom prst="ellipse">
            <a:avLst/>
          </a:prstGeom>
          <a:solidFill>
            <a:srgbClr val="F6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00055" y="17145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2600" b="1" i="0">
                <a:solidFill>
                  <a:srgbClr val="0B1026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29723" y="2926080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상점 → 다음 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29723" y="3291840"/>
            <a:ext cx="179222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업그레이드, 행성 해금. 런 사이에만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25196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200" b="0" i="1">
                <a:solidFill>
                  <a:srgbClr val="F6B94B"/>
                </a:solidFill>
                <a:latin typeface="Malgun Gothic"/>
                <a:ea typeface="Malgun Gothic"/>
              </a:rPr>
              <a:t>↺  다음 런: 더 많은 먼지, 더 강한 중력, 더 긴 런, 더 큰 행성.  런은 플레이, 상점은 결정.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75488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87375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300" b="1" i="0">
                <a:solidFill>
                  <a:srgbClr val="6FD0F7"/>
                </a:solidFill>
                <a:latin typeface="Malgun Gothic"/>
                <a:ea typeface="Malgun Gothic"/>
              </a:rPr>
              <a:t>런에서 유지되는 것 / 리셋되는 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49377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유지  </a:t>
            </a:r>
            <a:r>
              <a:rPr lang="ko-KR" sz="1100" b="0" i="0">
                <a:solidFill>
                  <a:srgbClr val="C9D3F0"/>
                </a:solidFill>
                <a:latin typeface="Malgun Gothic"/>
                <a:ea typeface="Malgun Gothic"/>
              </a:rPr>
              <a:t>재화, 업그레이드 레벨, 해금, 런 통계, 도전과제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리셋  </a:t>
            </a:r>
            <a:r>
              <a:rPr lang="ko-KR" sz="1100" b="0" i="0">
                <a:solidFill>
                  <a:srgbClr val="C9D3F0"/>
                </a:solidFill>
                <a:latin typeface="Malgun Gothic"/>
                <a:ea typeface="Malgun Gothic"/>
              </a:rPr>
              <a:t>먼지, 스태미나, 질량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판매  </a:t>
            </a:r>
            <a:r>
              <a:rPr lang="ko-KR" sz="1100" b="0" i="0">
                <a:solidFill>
                  <a:srgbClr val="C9D3F0"/>
                </a:solidFill>
                <a:latin typeface="Malgun Gothic"/>
                <a:ea typeface="Malgun Gothic"/>
              </a:rPr>
              <a:t>생성 즉시 합산. 수동 판매 버튼 없음 (E3). 행성은 잠시 보였다 사라진다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75488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487375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300" b="1" i="0">
                <a:solidFill>
                  <a:srgbClr val="6FD0F7"/>
                </a:solidFill>
                <a:latin typeface="Malgun Gothic"/>
                <a:ea typeface="Malgun Gothic"/>
              </a:rPr>
              <a:t>스태미나 (제안 초기값)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212080"/>
            <a:ext cx="49377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최대  </a:t>
            </a:r>
            <a:r>
              <a:rPr lang="ko-KR" sz="1100" b="0" i="0">
                <a:solidFill>
                  <a:srgbClr val="C9D3F0"/>
                </a:solidFill>
                <a:latin typeface="Malgun Gothic"/>
                <a:ea typeface="Malgun Gothic"/>
              </a:rPr>
              <a:t>60, 레벨당 +10. 업그레이드 대상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소모  </a:t>
            </a:r>
            <a:r>
              <a:rPr lang="ko-KR" sz="1100" b="0" i="0">
                <a:solidFill>
                  <a:srgbClr val="C9D3F0"/>
                </a:solidFill>
                <a:latin typeface="Malgun Gothic"/>
                <a:ea typeface="Malgun Gothic"/>
              </a:rPr>
              <a:t>홀드 1/초, 대기 0.2/초. 가만히 있어도 닳아 무한 대기를 막는다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런 길이  </a:t>
            </a:r>
            <a:r>
              <a:rPr lang="ko-KR" sz="1100" b="0" i="0">
                <a:solidFill>
                  <a:srgbClr val="C9D3F0"/>
                </a:solidFill>
                <a:latin typeface="Malgun Gothic"/>
                <a:ea typeface="Malgun Gothic"/>
              </a:rPr>
              <a:t>초반 1분 → 후반 5~10분. 엔딩까지 40~70런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900" b="0" i="0">
                <a:solidFill>
                  <a:srgbClr val="9AA3C7"/>
                </a:solidFill>
                <a:latin typeface="Malgun Gothic"/>
                <a:ea typeface="Malgun Gothic"/>
              </a:rPr>
              <a:t>기획 요약 · 2026-09-17 기준 · 상태: 확정 (개발 착수 가능)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ko-KR" sz="900" b="0" i="0">
                <a:solidFill>
                  <a:srgbClr val="9AA3C7"/>
                </a:solidFill>
                <a:latin typeface="Malgun Gothic"/>
                <a:ea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10 · §3.4 티어표 (제안, 전부 조정 대상)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3000" b="1" i="0">
                <a:solidFill>
                  <a:srgbClr val="EEF1FA"/>
                </a:solidFill>
                <a:latin typeface="Malgun Gothic"/>
                <a:ea typeface="Malgun Gothic"/>
              </a:rPr>
              <a:t>천체 티어: 소행성에서 청색 거성까지</a:t>
            </a:r>
          </a:p>
        </p:txBody>
      </p:sp>
      <p:sp>
        <p:nvSpPr>
          <p:cNvPr id="5" name="Oval 4"/>
          <p:cNvSpPr/>
          <p:nvPr/>
        </p:nvSpPr>
        <p:spPr>
          <a:xfrm>
            <a:off x="1008042" y="2935224"/>
            <a:ext cx="256032" cy="256032"/>
          </a:xfrm>
          <a:prstGeom prst="ellipse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79" y="1600200"/>
            <a:ext cx="99195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AA3C7"/>
                </a:solidFill>
                <a:latin typeface="Malgun Gothic"/>
                <a:ea typeface="Malgun Gothic"/>
              </a:rPr>
              <a:t>T1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79" y="3703320"/>
            <a:ext cx="99195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소행성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" y="4023360"/>
            <a:ext cx="99195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질량 10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판매 1</a:t>
            </a:r>
          </a:p>
        </p:txBody>
      </p:sp>
      <p:sp>
        <p:nvSpPr>
          <p:cNvPr id="9" name="Oval 8"/>
          <p:cNvSpPr/>
          <p:nvPr/>
        </p:nvSpPr>
        <p:spPr>
          <a:xfrm>
            <a:off x="1965710" y="2900934"/>
            <a:ext cx="324612" cy="324612"/>
          </a:xfrm>
          <a:prstGeom prst="ellipse">
            <a:avLst/>
          </a:prstGeom>
          <a:solidFill>
            <a:srgbClr val="B7C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32037" y="1600200"/>
            <a:ext cx="99195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AA3C7"/>
                </a:solidFill>
                <a:latin typeface="Malgun Gothic"/>
                <a:ea typeface="Malgun Gothic"/>
              </a:rPr>
              <a:t>T2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2037" y="3703320"/>
            <a:ext cx="99195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혜성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037" y="4023360"/>
            <a:ext cx="99195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질량 25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판매 6</a:t>
            </a:r>
          </a:p>
        </p:txBody>
      </p:sp>
      <p:sp>
        <p:nvSpPr>
          <p:cNvPr id="13" name="Oval 12"/>
          <p:cNvSpPr/>
          <p:nvPr/>
        </p:nvSpPr>
        <p:spPr>
          <a:xfrm>
            <a:off x="2923378" y="2866644"/>
            <a:ext cx="393192" cy="393192"/>
          </a:xfrm>
          <a:prstGeom prst="ellipse">
            <a:avLst/>
          </a:prstGeom>
          <a:solidFill>
            <a:srgbClr val="C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23995" y="1600200"/>
            <a:ext cx="99195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AA3C7"/>
                </a:solidFill>
                <a:latin typeface="Malgun Gothic"/>
                <a:ea typeface="Malgun Gothic"/>
              </a:rPr>
              <a:t>T3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3995" y="3703320"/>
            <a:ext cx="99195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왜소행성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3995" y="4023360"/>
            <a:ext cx="99195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질량 60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판매 40</a:t>
            </a:r>
          </a:p>
        </p:txBody>
      </p:sp>
      <p:sp>
        <p:nvSpPr>
          <p:cNvPr id="17" name="Oval 16"/>
          <p:cNvSpPr/>
          <p:nvPr/>
        </p:nvSpPr>
        <p:spPr>
          <a:xfrm>
            <a:off x="3881046" y="2832354"/>
            <a:ext cx="461772" cy="461772"/>
          </a:xfrm>
          <a:prstGeom prst="ellipse">
            <a:avLst/>
          </a:prstGeom>
          <a:solidFill>
            <a:srgbClr val="D6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5953" y="1600200"/>
            <a:ext cx="99195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AA3C7"/>
                </a:solidFill>
                <a:latin typeface="Malgun Gothic"/>
                <a:ea typeface="Malgun Gothic"/>
              </a:rPr>
              <a:t>T4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5953" y="3703320"/>
            <a:ext cx="99195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위성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5953" y="4023360"/>
            <a:ext cx="99195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질량 150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판매 250</a:t>
            </a:r>
          </a:p>
        </p:txBody>
      </p:sp>
      <p:sp>
        <p:nvSpPr>
          <p:cNvPr id="21" name="Oval 20"/>
          <p:cNvSpPr/>
          <p:nvPr/>
        </p:nvSpPr>
        <p:spPr>
          <a:xfrm>
            <a:off x="4838713" y="2798064"/>
            <a:ext cx="530352" cy="530352"/>
          </a:xfrm>
          <a:prstGeom prst="ellipse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07910" y="1600200"/>
            <a:ext cx="99195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AA3C7"/>
                </a:solidFill>
                <a:latin typeface="Malgun Gothic"/>
                <a:ea typeface="Malgun Gothic"/>
              </a:rPr>
              <a:t>T5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7910" y="3703320"/>
            <a:ext cx="99195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암석 행성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7910" y="4023360"/>
            <a:ext cx="99195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질량 400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판매 2,000</a:t>
            </a:r>
          </a:p>
        </p:txBody>
      </p:sp>
      <p:sp>
        <p:nvSpPr>
          <p:cNvPr id="25" name="Oval 24"/>
          <p:cNvSpPr/>
          <p:nvPr/>
        </p:nvSpPr>
        <p:spPr>
          <a:xfrm>
            <a:off x="5796381" y="2763774"/>
            <a:ext cx="598932" cy="598932"/>
          </a:xfrm>
          <a:prstGeom prst="ellipse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99868" y="1600200"/>
            <a:ext cx="99195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AA3C7"/>
                </a:solidFill>
                <a:latin typeface="Malgun Gothic"/>
                <a:ea typeface="Malgun Gothic"/>
              </a:rPr>
              <a:t>T6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9868" y="3703320"/>
            <a:ext cx="99195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지구형 행성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9868" y="4023360"/>
            <a:ext cx="99195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질량 1,000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판매 15,000</a:t>
            </a:r>
          </a:p>
        </p:txBody>
      </p:sp>
      <p:sp>
        <p:nvSpPr>
          <p:cNvPr id="29" name="Oval 28"/>
          <p:cNvSpPr/>
          <p:nvPr/>
        </p:nvSpPr>
        <p:spPr>
          <a:xfrm>
            <a:off x="6754049" y="2729484"/>
            <a:ext cx="667512" cy="667512"/>
          </a:xfrm>
          <a:prstGeom prst="ellipse">
            <a:avLst/>
          </a:prstGeom>
          <a:solidFill>
            <a:srgbClr val="D9B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91826" y="1600200"/>
            <a:ext cx="99195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AA3C7"/>
                </a:solidFill>
                <a:latin typeface="Malgun Gothic"/>
                <a:ea typeface="Malgun Gothic"/>
              </a:rPr>
              <a:t>T7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1826" y="3703320"/>
            <a:ext cx="99195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가스 행성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1826" y="4023360"/>
            <a:ext cx="99195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질량 2,500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판매 1.2e5</a:t>
            </a:r>
          </a:p>
        </p:txBody>
      </p:sp>
      <p:sp>
        <p:nvSpPr>
          <p:cNvPr id="33" name="Oval 32"/>
          <p:cNvSpPr/>
          <p:nvPr/>
        </p:nvSpPr>
        <p:spPr>
          <a:xfrm>
            <a:off x="7711717" y="2695194"/>
            <a:ext cx="736092" cy="736092"/>
          </a:xfrm>
          <a:prstGeom prst="ellipse">
            <a:avLst/>
          </a:prstGeom>
          <a:solidFill>
            <a:srgbClr val="9C6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3784" y="1600200"/>
            <a:ext cx="99195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AA3C7"/>
                </a:solidFill>
                <a:latin typeface="Malgun Gothic"/>
                <a:ea typeface="Malgun Gothic"/>
              </a:rPr>
              <a:t>T8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3784" y="3703320"/>
            <a:ext cx="99195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갈색 왜성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3784" y="4023360"/>
            <a:ext cx="99195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질량 6,000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판매 1e6</a:t>
            </a:r>
          </a:p>
        </p:txBody>
      </p:sp>
      <p:sp>
        <p:nvSpPr>
          <p:cNvPr id="37" name="Oval 36"/>
          <p:cNvSpPr/>
          <p:nvPr/>
        </p:nvSpPr>
        <p:spPr>
          <a:xfrm>
            <a:off x="8427983" y="2419502"/>
            <a:ext cx="1287475" cy="1287475"/>
          </a:xfrm>
          <a:prstGeom prst="ellipse">
            <a:avLst/>
          </a:prstGeom>
          <a:solidFill>
            <a:srgbClr val="F0705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8669384" y="2660904"/>
            <a:ext cx="804672" cy="804672"/>
          </a:xfrm>
          <a:prstGeom prst="ellipse">
            <a:avLst/>
          </a:prstGeom>
          <a:solidFill>
            <a:srgbClr val="F0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75741" y="1600200"/>
            <a:ext cx="99195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AA3C7"/>
                </a:solidFill>
                <a:latin typeface="Malgun Gothic"/>
                <a:ea typeface="Malgun Gothic"/>
              </a:rPr>
              <a:t>T9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5741" y="3703320"/>
            <a:ext cx="99195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적색 왜성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5741" y="4023360"/>
            <a:ext cx="99195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질량 15,000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판매 1e7</a:t>
            </a:r>
          </a:p>
        </p:txBody>
      </p:sp>
      <p:sp>
        <p:nvSpPr>
          <p:cNvPr id="42" name="Oval 41"/>
          <p:cNvSpPr/>
          <p:nvPr/>
        </p:nvSpPr>
        <p:spPr>
          <a:xfrm>
            <a:off x="9365076" y="2364638"/>
            <a:ext cx="1397203" cy="1397203"/>
          </a:xfrm>
          <a:prstGeom prst="ellipse">
            <a:avLst/>
          </a:prstGeom>
          <a:solidFill>
            <a:srgbClr val="F6B94B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Oval 42"/>
          <p:cNvSpPr/>
          <p:nvPr/>
        </p:nvSpPr>
        <p:spPr>
          <a:xfrm>
            <a:off x="9627052" y="2626614"/>
            <a:ext cx="873252" cy="873252"/>
          </a:xfrm>
          <a:prstGeom prst="ellipse">
            <a:avLst/>
          </a:prstGeom>
          <a:solidFill>
            <a:srgbClr val="F6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67699" y="1600200"/>
            <a:ext cx="99195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AA3C7"/>
                </a:solidFill>
                <a:latin typeface="Malgun Gothic"/>
                <a:ea typeface="Malgun Gothic"/>
              </a:rPr>
              <a:t>T10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67699" y="3703320"/>
            <a:ext cx="99195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태양형 항성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67699" y="4023360"/>
            <a:ext cx="99195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질량 40,000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판매 1e8</a:t>
            </a:r>
          </a:p>
        </p:txBody>
      </p:sp>
      <p:sp>
        <p:nvSpPr>
          <p:cNvPr id="47" name="Oval 46"/>
          <p:cNvSpPr/>
          <p:nvPr/>
        </p:nvSpPr>
        <p:spPr>
          <a:xfrm>
            <a:off x="10302170" y="2309774"/>
            <a:ext cx="1506931" cy="1506931"/>
          </a:xfrm>
          <a:prstGeom prst="ellipse">
            <a:avLst/>
          </a:prstGeom>
          <a:solidFill>
            <a:srgbClr val="9DBD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584720" y="2592324"/>
            <a:ext cx="941832" cy="941832"/>
          </a:xfrm>
          <a:prstGeom prst="ellipse">
            <a:avLst/>
          </a:prstGeom>
          <a:solidFill>
            <a:srgbClr val="9D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59657" y="1600200"/>
            <a:ext cx="99195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AA3C7"/>
                </a:solidFill>
                <a:latin typeface="Malgun Gothic"/>
                <a:ea typeface="Malgun Gothic"/>
              </a:rPr>
              <a:t>T11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9657" y="3703320"/>
            <a:ext cx="99195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청색 거성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59657" y="4023360"/>
            <a:ext cx="99195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질량 1e5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50" b="0" i="0">
                <a:solidFill>
                  <a:srgbClr val="9AA3C7"/>
                </a:solidFill>
                <a:latin typeface="Malgun Gothic"/>
                <a:ea typeface="Malgun Gothic"/>
              </a:rPr>
              <a:t>판매 1e9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8760" y="1874519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F0705A"/>
                </a:solidFill>
                <a:latin typeface="Malgun Gothic"/>
                <a:ea typeface="Malgun Gothic"/>
              </a:rPr>
              <a:t>항성 점화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32676" y="1874519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000" b="1" i="0">
                <a:solidFill>
                  <a:srgbClr val="9DBDFF"/>
                </a:solidFill>
                <a:latin typeface="Malgun Gothic"/>
                <a:ea typeface="Malgun Gothic"/>
              </a:rPr>
              <a:t>초신성 = 엔딩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475488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" y="484632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2200" b="1" i="0">
                <a:solidFill>
                  <a:srgbClr val="F6B94B"/>
                </a:solidFill>
                <a:latin typeface="Malgun Gothic"/>
                <a:ea typeface="Malgun Gothic"/>
              </a:rPr>
              <a:t>×6~10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53766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200" b="1" i="0">
                <a:solidFill>
                  <a:srgbClr val="EEF1FA"/>
                </a:solidFill>
                <a:latin typeface="Malgun Gothic"/>
                <a:ea typeface="Malgun Gothic"/>
              </a:rPr>
              <a:t>티어당 판매가 배율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65099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ko-KR" sz="1000" b="0" i="0">
                <a:solidFill>
                  <a:srgbClr val="9AA3C7"/>
                </a:solidFill>
                <a:latin typeface="Malgun Gothic"/>
                <a:ea typeface="Malgun Gothic"/>
              </a:rPr>
              <a:t>필요 질량은 ×2.5~3. 모든 값이 double 안. 먼지 질량 1.5^n 업그레이드가 티어 6 이후 주력 성장축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97680" y="475488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26280" y="484632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2200" b="1" i="0">
                <a:solidFill>
                  <a:srgbClr val="F6B94B"/>
                </a:solidFill>
                <a:latin typeface="Malgun Gothic"/>
                <a:ea typeface="Malgun Gothic"/>
              </a:rPr>
              <a:t>해금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26280" y="53766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200" b="1" i="0">
                <a:solidFill>
                  <a:srgbClr val="EEF1FA"/>
                </a:solidFill>
                <a:latin typeface="Malgun Gothic"/>
                <a:ea typeface="Malgun Gothic"/>
              </a:rPr>
              <a:t>행성 해금이 주 성장 루프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6280" y="565099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ko-KR" sz="1000" b="0" i="0">
                <a:solidFill>
                  <a:srgbClr val="9AA3C7"/>
                </a:solidFill>
                <a:latin typeface="Malgun Gothic"/>
                <a:ea typeface="Malgun Gothic"/>
              </a:rPr>
              <a:t>해금 비용 = 판매가 ×10~20. 직전 티어로 2~4런 벌면 다음 해금. 놓으면 넘은 임계 중 가장 높은 해금 티어로 생성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955279" y="475488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83879" y="484632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2200" b="1" i="0">
                <a:solidFill>
                  <a:srgbClr val="F6B94B"/>
                </a:solidFill>
                <a:latin typeface="Malgun Gothic"/>
                <a:ea typeface="Malgun Gothic"/>
              </a:rPr>
              <a:t>×5~20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3879" y="53766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200" b="1" i="0">
                <a:solidFill>
                  <a:srgbClr val="EEF1FA"/>
                </a:solidFill>
                <a:latin typeface="Malgun Gothic"/>
                <a:ea typeface="Malgun Gothic"/>
              </a:rPr>
              <a:t>특이 천체 (프로토타입 이후)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79" y="565099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ko-KR" sz="1000" b="0" i="0">
                <a:solidFill>
                  <a:srgbClr val="9AA3C7"/>
                </a:solidFill>
                <a:latin typeface="Malgun Gothic"/>
                <a:ea typeface="Malgun Gothic"/>
              </a:rPr>
              <a:t>낮은 확률로 금속 소행성, 다이아몬드 행성 같은 변종. 도전과제 소재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900" b="0" i="0">
                <a:solidFill>
                  <a:srgbClr val="9AA3C7"/>
                </a:solidFill>
                <a:latin typeface="Malgun Gothic"/>
                <a:ea typeface="Malgun Gothic"/>
              </a:rPr>
              <a:t>기획 요약 · 2026-09-17 기준 · 상태: 확정 (개발 착수 가능)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ko-KR" sz="900" b="0" i="0">
                <a:solidFill>
                  <a:srgbClr val="9AA3C7"/>
                </a:solidFill>
                <a:latin typeface="Malgun Gothic"/>
                <a:ea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02 · §1, §3 수식 (제안) · 10 · §4.3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3000" b="1" i="0">
                <a:solidFill>
                  <a:srgbClr val="EEF1FA"/>
                </a:solidFill>
                <a:latin typeface="Malgun Gothic"/>
                <a:ea typeface="Malgun Gothic"/>
              </a:rPr>
              <a:t>성장 구조와 폭발의 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500" b="1" i="0">
                <a:solidFill>
                  <a:srgbClr val="6FD0F7"/>
                </a:solidFill>
                <a:latin typeface="Malgun Gothic"/>
                <a:ea typeface="Malgun Gothic"/>
              </a:rPr>
              <a:t>주 성장 루프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1F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행성 해금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19656" y="2057400"/>
            <a:ext cx="201168" cy="0"/>
          </a:xfrm>
          <a:prstGeom prst="line">
            <a:avLst/>
          </a:prstGeom>
          <a:ln w="19050">
            <a:solidFill>
              <a:srgbClr val="9AA3C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1828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1F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182880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더 큰 행성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6976" y="2057400"/>
            <a:ext cx="201168" cy="0"/>
          </a:xfrm>
          <a:prstGeom prst="line">
            <a:avLst/>
          </a:prstGeom>
          <a:ln w="19050">
            <a:solidFill>
              <a:srgbClr val="9AA3C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74720" y="1828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1F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더 큰 런 수입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54296" y="2057400"/>
            <a:ext cx="201168" cy="0"/>
          </a:xfrm>
          <a:prstGeom prst="line">
            <a:avLst/>
          </a:prstGeom>
          <a:ln w="19050">
            <a:solidFill>
              <a:srgbClr val="9AA3C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92040" y="1828800"/>
            <a:ext cx="1143000" cy="457200"/>
          </a:xfrm>
          <a:prstGeom prst="roundRect">
            <a:avLst>
              <a:gd name="adj" fmla="val 40000"/>
            </a:avLst>
          </a:prstGeom>
          <a:solidFill>
            <a:srgbClr val="1F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2040" y="182880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EEF1FA"/>
                </a:solidFill>
                <a:latin typeface="Malgun Gothic"/>
                <a:ea typeface="Malgun Gothic"/>
              </a:rPr>
              <a:t>다음 해금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방치 경로도 오프라인 진행도 없다 (E1). 후반의 증폭은 스태미나 상한, 먼지 질량, 판매 배율이 담당한다.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71800"/>
            <a:ext cx="5394960" cy="28803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09067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300" b="1" i="0">
                <a:solidFill>
                  <a:srgbClr val="6FD0F7"/>
                </a:solidFill>
                <a:latin typeface="Malgun Gothic"/>
                <a:ea typeface="Malgun Gothic"/>
              </a:rPr>
              <a:t>수식 (제안, 런 로그로 조정)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56432"/>
            <a:ext cx="493776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1" i="0">
                <a:solidFill>
                  <a:srgbClr val="EEF1FA"/>
                </a:solidFill>
                <a:latin typeface="Malgun Gothic"/>
                <a:ea typeface="Malgun Gothic"/>
              </a:rPr>
              <a:t>업그레이드 비용  </a:t>
            </a: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base × growth ^ n.  growth 1.25 (저렴한 축) ~ 1.4 (강한 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49624"/>
            <a:ext cx="493776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1" i="0">
                <a:solidFill>
                  <a:srgbClr val="EEF1FA"/>
                </a:solidFill>
                <a:latin typeface="Malgun Gothic"/>
                <a:ea typeface="Malgun Gothic"/>
              </a:rPr>
              <a:t>행성 해금 비용  </a:t>
            </a: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해당 티어 기본 판매가 × 10~20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42816"/>
            <a:ext cx="493776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1" i="0">
                <a:solidFill>
                  <a:srgbClr val="EEF1FA"/>
                </a:solidFill>
                <a:latin typeface="Malgun Gothic"/>
                <a:ea typeface="Malgun Gothic"/>
              </a:rPr>
              <a:t>먼지 질량  </a:t>
            </a: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1.5 ^ n.  티어 6 이후 주력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36008"/>
            <a:ext cx="493776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1" i="0">
                <a:solidFill>
                  <a:srgbClr val="EEF1FA"/>
                </a:solidFill>
                <a:latin typeface="Malgun Gothic"/>
                <a:ea typeface="Malgun Gothic"/>
              </a:rPr>
              <a:t>스태미나  </a:t>
            </a: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최대 60 + 10/레벨.  홀드 1/초, 대기 0.2/초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493776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1" i="0">
                <a:solidFill>
                  <a:srgbClr val="EEF1FA"/>
                </a:solidFill>
                <a:latin typeface="Malgun Gothic"/>
                <a:ea typeface="Malgun Gothic"/>
              </a:rPr>
              <a:t>런당 성장 목표  </a:t>
            </a: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초반 ×1.3~2.0, 중반 ×1.1~1.3, 해금 런 ×3 이상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22392"/>
            <a:ext cx="493776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50" b="1" i="0">
                <a:solidFill>
                  <a:srgbClr val="EEF1FA"/>
                </a:solidFill>
                <a:latin typeface="Malgun Gothic"/>
                <a:ea typeface="Malgun Gothic"/>
              </a:rPr>
              <a:t>숫자 범위  </a:t>
            </a: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전부 double 안. 큰 수 라이브러리 없음 (N1)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500" b="1" i="0">
                <a:solidFill>
                  <a:srgbClr val="6FD0F7"/>
                </a:solidFill>
                <a:latin typeface="Malgun Gothic"/>
                <a:ea typeface="Malgun Gothic"/>
              </a:rPr>
              <a:t>폭발적 성장의 4순간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7830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100" b="0" i="0">
                <a:solidFill>
                  <a:srgbClr val="9AA3C7"/>
                </a:solidFill>
                <a:latin typeface="Malgun Gothic"/>
                <a:ea typeface="Malgun Gothic"/>
              </a:rPr>
              <a:t>별도 연출이 아니라 시스템에서 나오는 순간을 잡는다.</a:t>
            </a:r>
          </a:p>
        </p:txBody>
      </p:sp>
      <p:sp>
        <p:nvSpPr>
          <p:cNvPr id="28" name="Oval 27"/>
          <p:cNvSpPr/>
          <p:nvPr/>
        </p:nvSpPr>
        <p:spPr>
          <a:xfrm>
            <a:off x="6423659" y="2427732"/>
            <a:ext cx="502920" cy="502920"/>
          </a:xfrm>
          <a:prstGeom prst="ellipse">
            <a:avLst/>
          </a:prstGeom>
          <a:solidFill>
            <a:srgbClr val="F6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3659" y="24277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600" b="1" i="0">
                <a:solidFill>
                  <a:srgbClr val="0B1026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3774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매 런의 결과 화면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3774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매 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670048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지난 런 대비 ×2, ×3이 찍히는 순간. 결과 화면이 곧 성장 그래프다</a:t>
            </a:r>
          </a:p>
        </p:txBody>
      </p:sp>
      <p:sp>
        <p:nvSpPr>
          <p:cNvPr id="33" name="Oval 32"/>
          <p:cNvSpPr/>
          <p:nvPr/>
        </p:nvSpPr>
        <p:spPr>
          <a:xfrm>
            <a:off x="6423659" y="3415284"/>
            <a:ext cx="502920" cy="502920"/>
          </a:xfrm>
          <a:prstGeom prst="ellipse">
            <a:avLst/>
          </a:prstGeom>
          <a:solidFill>
            <a:srgbClr val="C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23659" y="341528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600" b="1" i="0">
                <a:solidFill>
                  <a:srgbClr val="0B1026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3649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먼지 폭증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3649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15~20분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65760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먼지 상한과 중력 반경 업그레이드를 같은 구간에 배치. 화면이 먼지로 가득 차는 첫 런</a:t>
            </a:r>
          </a:p>
        </p:txBody>
      </p:sp>
      <p:sp>
        <p:nvSpPr>
          <p:cNvPr id="38" name="Oval 37"/>
          <p:cNvSpPr/>
          <p:nvPr/>
        </p:nvSpPr>
        <p:spPr>
          <a:xfrm>
            <a:off x="6423659" y="4402836"/>
            <a:ext cx="502920" cy="502920"/>
          </a:xfrm>
          <a:prstGeom prst="ellipse">
            <a:avLst/>
          </a:prstGeom>
          <a:solidFill>
            <a:srgbClr val="F0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23659" y="44028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600" b="1" i="0">
                <a:solidFill>
                  <a:srgbClr val="0B1026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35254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항성 점화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3525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1~2시간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645152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티어 9 생성 시 화면 전체가 밝아지고 배경색이 바뀐다</a:t>
            </a:r>
          </a:p>
        </p:txBody>
      </p:sp>
      <p:sp>
        <p:nvSpPr>
          <p:cNvPr id="43" name="Oval 42"/>
          <p:cNvSpPr/>
          <p:nvPr/>
        </p:nvSpPr>
        <p:spPr>
          <a:xfrm>
            <a:off x="6423659" y="5390388"/>
            <a:ext cx="502920" cy="502920"/>
          </a:xfrm>
          <a:prstGeom prst="ellipse">
            <a:avLst/>
          </a:prstGeom>
          <a:solidFill>
            <a:srgbClr val="9D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23659" y="53903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600" b="1" i="0">
                <a:solidFill>
                  <a:srgbClr val="0B1026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534009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400" b="1" i="0">
                <a:solidFill>
                  <a:srgbClr val="EEF1FA"/>
                </a:solidFill>
                <a:latin typeface="Malgun Gothic"/>
                <a:ea typeface="Malgun Gothic"/>
              </a:rPr>
              <a:t>초신성 = 엔딩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534009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2~4시간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5632704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9AA3C7"/>
                </a:solidFill>
                <a:latin typeface="Malgun Gothic"/>
                <a:ea typeface="Malgun Gothic"/>
              </a:rPr>
              <a:t>항성 붕괴 → 폭발 → 화면 전체로 먼지 방출 → 크레딧. 연출 강도 옵션 적용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900" b="0" i="0">
                <a:solidFill>
                  <a:srgbClr val="9AA3C7"/>
                </a:solidFill>
                <a:latin typeface="Malgun Gothic"/>
                <a:ea typeface="Malgun Gothic"/>
              </a:rPr>
              <a:t>기획 요약 · 2026-09-17 기준 · 상태: 확정 (개발 착수 가능)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ko-KR" sz="900" b="0" i="0">
                <a:solidFill>
                  <a:srgbClr val="9AA3C7"/>
                </a:solidFill>
                <a:latin typeface="Malgun Gothic"/>
                <a:ea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02 · §4 시간축 · §5 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3000" b="1" i="0">
                <a:solidFill>
                  <a:srgbClr val="EEF1FA"/>
                </a:solidFill>
                <a:latin typeface="Malgun Gothic"/>
                <a:ea typeface="Malgun Gothic"/>
              </a:rPr>
              <a:t>플레이 시간축 (제안): 2~4시간, 40~70런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3474720"/>
            <a:ext cx="10789920" cy="0"/>
          </a:xfrm>
          <a:prstGeom prst="line">
            <a:avLst/>
          </a:prstGeom>
          <a:ln w="38100">
            <a:solidFill>
              <a:srgbClr val="1F285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33272" y="3319272"/>
            <a:ext cx="310896" cy="310896"/>
          </a:xfrm>
          <a:prstGeom prst="ellipse">
            <a:avLst/>
          </a:prstGeom>
          <a:solidFill>
            <a:srgbClr val="C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124712" y="3410712"/>
            <a:ext cx="128016" cy="128016"/>
          </a:xfrm>
          <a:prstGeom prst="ellipse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2057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250" b="1" i="0">
                <a:solidFill>
                  <a:srgbClr val="C9D3F0"/>
                </a:solidFill>
                <a:latin typeface="Malgun Gothic"/>
                <a:ea typeface="Malgun Gothic"/>
              </a:rPr>
              <a:t>0~5분 · 런 1~4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377439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C9D3F0"/>
                </a:solidFill>
                <a:latin typeface="Malgun Gothic"/>
                <a:ea typeface="Malgun Gothic"/>
              </a:rPr>
              <a:t>홀드, 첫 소행성, 첫 결과 화면, 첫 업그레이드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20" y="3154679"/>
            <a:ext cx="0" cy="137160"/>
          </a:xfrm>
          <a:prstGeom prst="line">
            <a:avLst/>
          </a:prstGeom>
          <a:ln w="12700">
            <a:solidFill>
              <a:srgbClr val="1F2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990087" y="3319272"/>
            <a:ext cx="310896" cy="310896"/>
          </a:xfrm>
          <a:prstGeom prst="ellipse">
            <a:avLst/>
          </a:prstGeom>
          <a:solidFill>
            <a:srgbClr val="C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81527" y="3410712"/>
            <a:ext cx="128016" cy="128016"/>
          </a:xfrm>
          <a:prstGeom prst="ellipse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85415" y="38404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250" b="1" i="0">
                <a:solidFill>
                  <a:srgbClr val="C9D3F0"/>
                </a:solidFill>
                <a:latin typeface="Malgun Gothic"/>
                <a:ea typeface="Malgun Gothic"/>
              </a:rPr>
              <a:t>5~20분 · 런 5~15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5" y="416052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C9D3F0"/>
                </a:solidFill>
                <a:latin typeface="Malgun Gothic"/>
                <a:ea typeface="Malgun Gothic"/>
              </a:rPr>
              <a:t>먼지 폭증. 화면이 가득 차는 첫 런. 티어 5까지</a:t>
            </a:r>
          </a:p>
        </p:txBody>
      </p:sp>
      <p:sp>
        <p:nvSpPr>
          <p:cNvPr id="15" name="Oval 14"/>
          <p:cNvSpPr/>
          <p:nvPr/>
        </p:nvSpPr>
        <p:spPr>
          <a:xfrm>
            <a:off x="4946903" y="3319272"/>
            <a:ext cx="310896" cy="310896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38343" y="3410712"/>
            <a:ext cx="128016" cy="128016"/>
          </a:xfrm>
          <a:prstGeom prst="ellipse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42231" y="2057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250" b="1" i="0">
                <a:solidFill>
                  <a:srgbClr val="6FD0F7"/>
                </a:solidFill>
                <a:latin typeface="Malgun Gothic"/>
                <a:ea typeface="Malgun Gothic"/>
              </a:rPr>
              <a:t>20~60분 · 런 15~30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1" y="2377439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C9D3F0"/>
                </a:solidFill>
                <a:latin typeface="Malgun Gothic"/>
                <a:ea typeface="Malgun Gothic"/>
              </a:rPr>
              <a:t>티어 6~8. 런이 3~5분으로 길어진다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02351" y="3154679"/>
            <a:ext cx="0" cy="137160"/>
          </a:xfrm>
          <a:prstGeom prst="line">
            <a:avLst/>
          </a:prstGeom>
          <a:ln w="12700">
            <a:solidFill>
              <a:srgbClr val="1F2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903719" y="3319272"/>
            <a:ext cx="310896" cy="310896"/>
          </a:xfrm>
          <a:prstGeom prst="ellipse">
            <a:avLst/>
          </a:prstGeom>
          <a:solidFill>
            <a:srgbClr val="F0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95159" y="3410712"/>
            <a:ext cx="128016" cy="128016"/>
          </a:xfrm>
          <a:prstGeom prst="ellipse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7" y="38404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250" b="1" i="0">
                <a:solidFill>
                  <a:srgbClr val="F0705A"/>
                </a:solidFill>
                <a:latin typeface="Malgun Gothic"/>
                <a:ea typeface="Malgun Gothic"/>
              </a:rPr>
              <a:t>1~2시간 · 런 30~50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7" y="416052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C9D3F0"/>
                </a:solidFill>
                <a:latin typeface="Malgun Gothic"/>
                <a:ea typeface="Malgun Gothic"/>
              </a:rPr>
              <a:t>항성 점화. 화면이 밝아진다. 티어 9~10</a:t>
            </a:r>
          </a:p>
        </p:txBody>
      </p:sp>
      <p:sp>
        <p:nvSpPr>
          <p:cNvPr id="24" name="Oval 23"/>
          <p:cNvSpPr/>
          <p:nvPr/>
        </p:nvSpPr>
        <p:spPr>
          <a:xfrm>
            <a:off x="8860536" y="3319272"/>
            <a:ext cx="310896" cy="310896"/>
          </a:xfrm>
          <a:prstGeom prst="ellipse">
            <a:avLst/>
          </a:prstGeom>
          <a:solidFill>
            <a:srgbClr val="9D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8951976" y="3410712"/>
            <a:ext cx="128016" cy="128016"/>
          </a:xfrm>
          <a:prstGeom prst="ellipse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55863" y="2057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250" b="1" i="0">
                <a:solidFill>
                  <a:srgbClr val="9DBDFF"/>
                </a:solidFill>
                <a:latin typeface="Malgun Gothic"/>
                <a:ea typeface="Malgun Gothic"/>
              </a:rPr>
              <a:t>2~4시간 · 런 50~70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3" y="2377439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C9D3F0"/>
                </a:solidFill>
                <a:latin typeface="Malgun Gothic"/>
                <a:ea typeface="Malgun Gothic"/>
              </a:rPr>
              <a:t>청색 거성 → 초신성 → 엔딩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15984" y="3154679"/>
            <a:ext cx="0" cy="137160"/>
          </a:xfrm>
          <a:prstGeom prst="line">
            <a:avLst/>
          </a:prstGeom>
          <a:ln w="12700">
            <a:solidFill>
              <a:srgbClr val="1F2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817352" y="3319272"/>
            <a:ext cx="310896" cy="310896"/>
          </a:xfrm>
          <a:prstGeom prst="ellipse">
            <a:avLst/>
          </a:prstGeom>
          <a:solidFill>
            <a:srgbClr val="9A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908792" y="3410712"/>
            <a:ext cx="128016" cy="128016"/>
          </a:xfrm>
          <a:prstGeom prst="ellipse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38404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sz="1250" b="1" i="0">
                <a:solidFill>
                  <a:srgbClr val="9AA3C7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416052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sz="1050" b="0" i="0">
                <a:solidFill>
                  <a:srgbClr val="C9D3F0"/>
                </a:solidFill>
                <a:latin typeface="Malgun Gothic"/>
                <a:ea typeface="Malgun Gothic"/>
              </a:rPr>
              <a:t>엔들리스, 도전과제 마무리. 새 시스템 없음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12064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230368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엔딩 (E5 기본값)  </a:t>
            </a:r>
            <a:r>
              <a:rPr lang="ko-KR" sz="1100" b="0" i="0">
                <a:solidFill>
                  <a:srgbClr val="C9D3F0"/>
                </a:solidFill>
                <a:latin typeface="Malgun Gothic"/>
                <a:ea typeface="Malgun Gothic"/>
              </a:rPr>
              <a:t>티어 11 청색 거성 생성 → 초신성 → 크레딧.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lang="ko-KR" sz="1100" b="0" i="0">
                <a:solidFill>
                  <a:srgbClr val="9AA3C7"/>
                </a:solidFill>
                <a:latin typeface="Malgun Gothic"/>
                <a:ea typeface="Malgun Gothic"/>
              </a:rPr>
              <a:t>이후 엔들리스: 같은 세이브로 계속, 도전과제 마무리. 새 시스템은 없다.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12064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5230368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lang="ko-KR" sz="1100" b="1" i="0">
                <a:solidFill>
                  <a:srgbClr val="F6B94B"/>
                </a:solidFill>
                <a:latin typeface="Malgun Gothic"/>
                <a:ea typeface="Malgun Gothic"/>
              </a:rPr>
              <a:t>프레스티지 (E4 기본값: 없음)  </a:t>
            </a:r>
            <a:r>
              <a:rPr lang="ko-KR" sz="1100" b="0" i="0">
                <a:solidFill>
                  <a:srgbClr val="C9D3F0"/>
                </a:solidFill>
                <a:latin typeface="Malgun Gothic"/>
                <a:ea typeface="Malgun Gothic"/>
              </a:rPr>
              <a:t>2~4시간 게임은 단일 진행 + 엔딩으로 충분. 레퍼런스에도 없다.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lang="ko-KR" sz="1100" b="0" i="0">
                <a:solidFill>
                  <a:srgbClr val="9AA3C7"/>
                </a:solidFill>
                <a:latin typeface="Malgun Gothic"/>
                <a:ea typeface="Malgun Gothic"/>
              </a:rPr>
              <a:t>5주차 밸런스에서 분량이 부족하면 엔딩 후 NG+ 1개 또는 런 종료 시 3택1 퍽(S3)으로 보강.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900" b="0" i="0">
                <a:solidFill>
                  <a:srgbClr val="9AA3C7"/>
                </a:solidFill>
                <a:latin typeface="Malgun Gothic"/>
                <a:ea typeface="Malgun Gothic"/>
              </a:rPr>
              <a:t>기획 요약 · 2026-09-17 기준 · 상태: 확정 (개발 착수 가능)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ko-KR" sz="900" b="0" i="0">
                <a:solidFill>
                  <a:srgbClr val="9AA3C7"/>
                </a:solidFill>
                <a:latin typeface="Malgun Gothic"/>
                <a:ea typeface="Malgun 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1138</Words>
  <Application>Microsoft Office PowerPoint</Application>
  <PresentationFormat>와이드스크린</PresentationFormat>
  <Paragraphs>181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Smin</cp:lastModifiedBy>
  <cp:revision>2</cp:revision>
  <dcterms:created xsi:type="dcterms:W3CDTF">2013-01-27T09:14:16Z</dcterms:created>
  <dcterms:modified xsi:type="dcterms:W3CDTF">2026-09-17T14:19:53Z</dcterms:modified>
  <cp:category/>
</cp:coreProperties>
</file>